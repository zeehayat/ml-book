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Explain the format: every following slide teaches one idea, then immediately asks you to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this is a causal question ("what happens if we intervene"), not just prediction or association. A regression coefficient alone is not enough — it requires a causal design or explicit identifying assumptions (see the causal-caution slide later in this deck).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y = 5 + (-2)(3) = -1. For y=1: 1 = 5 - 2x -&gt; 2x = 4 -&gt; x 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x̄=2, ȳ=4. Cov(x,y) = mean of (xi-x̄)(yi-ȳ) = [(-1)(-2)+(0)(0)+(1)(2)]/3 = 4/3 (or 2 with the (n-1) sample convention). Var(x) using the same convention gives slope = 2 exactly — y is exactly 2x here, so the fit should recover slope=2 precisely.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 = y - ŷ = 4 - 4.6 = -0.6. The model is over-predicting (residual is negative).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holding the number of bedrooms constant, each additional square foot is associated with a $150 increase in predicted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heteroskedasticity (non-constant error variance) is violated. Coefficients remain unbiased, but the classical standard errors (and therefore CIs and p-values) become invalid — use robust standard errors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first estimate (0.8) is far more precise (narrow CI). The second, despite a much larger point estimate, is imprecise and includes zero-adjacent values — precision and magnitude are separate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R² = 1 - 100/500 = 0.80. Adding the predictor raised R² slightly (to 0.81) but raw R² always rises or stays flat when adding predictors — check adjusted R² or cross-validated performance before concluding real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plotting the data and the residuals. Summary statistics (R², coefficients) can be identical while the underlying relationship (linear, curved, outlier-driven) is completely different — always plot before trusting a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two predictors are perfectly (or near-perfectly) collinear, so their coefficients become unstable/arbitrarily split between them with inflated standard errors — but since together they carry the same information, the combined prediction (and R²) is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lasso — its L1 penalty's corner geometry can drive irrelevant coefficients to exactly zero, effectively performing feature selection. Ridge shrinks all coefficients toward zero but essentially never sets them to exactly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odds = 0.8/0.2 = 4 (4-to-1 in favor). If exp(beta)=1.5, the odds multiply by 1.5 for a one-unit increase in x — the odds become 6, though the corresponding change in probability is smaller and depends on the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precision = 15/20 = 0.75 (75% of flagged emails were truly spam). Recall = 15/25 = 0.60 (60% of actual spam was caught).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this is data leakage — the scaler's mean/variance were computed using test-set rows, so information from the test set leaked into training. The reported test accuracy is overly optimistic. Fix: fit the scaler on the training fold only, then apply it to the test 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statsmodels — it is built for statistical inference (SEs, p-values, CIs) and reports them directly. scikit-learn is optimized for prediction pipelines and does not report inferential statistics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not necessarily — statistical significance with a huge sample size can produce a tiny, practically irrelevant p-value. You'd want the coefficient's real-world magnitude in context (0.0003 per unit of what, over what realistic range of x?) and a confidence interval, not just the p-value.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confounder is hot weather, which independently increases both ice cream sales and swimming (and therefore drowning risk). The association is real but not causal — intervening on ice cream sales would not change drowning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self-check slide. If any question causes hesitation, return to that concept's slide and its exercise before moving to Chapter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Chapter 1: Linear Regression &amp; Logistic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0D9488"/>
                </a:solidFill>
              </a:rPr>
              <a:t>One concept, one exercise per slide — practice as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27432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What Regression Is Trying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Description: summarize how y relates to x in the data you have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Prediction: guess y for a new observation's x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Explanation: estimate how much x influences y, holding other things fixed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Causal inference: what happens to y if we intervene and change 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retailer fits a model of sales vs. advertising spend to decide whether to increase next quarter's ad budget. Which of the four goals above does this require — and is a plain regression coefficient enough to justify the decision?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Slope and Intercept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line is written y = a + b·x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(intercept): the value of y when x = 0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b (slope): how much y changes per one-unit increase in x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Rearranged: x = (y − a) /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line has intercept a = 5 and slope b = -2. What is y when x = 3? What value of x gives y = 1?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Mean, Variance, and Covariance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Mean: add the values, divide by the count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Variance: how spread out values are around the mean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Covariance: whether two variables move together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simple regression slope is Cov(x,y) / Var(x)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For x = [1, 2, 3] and y = [2, 4, 6], compute x̄, ȳ, and the slope of the regression line using slope = Cov(x,y)/Var(x).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Least Squares and Residuals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Residual: e = y − ŷ (observed minus predicted)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OLS chooses the line minimizing the sum of squared residuals Σe²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Squaring penalizes large mistakes more and has clean calculus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ε (true disturbance) ≠ e (observed residual) — e is only an estimate of 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fitted line gives ŷ = 4.6 at x = 4. The observed value is y = 4. What is the residual? Is the model over- or under-predicting at this point?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Multiple Regression and the Design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y = β₀ + β₁x₁ + β₂x₂ + ... + ε — many predictors, one model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Stack predictors into a design matrix X; solve β̂ = (XᵀX)⁻¹Xᵀy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Each βⱼ is interpreted "holding all other predictors constant"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model predicts house price from square footage (x1) and number of bedrooms (x2), giving β1 = 150 and β2 = 5000. What does β1 = 150 mean in plain language?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The Assumptions Behind 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Linearity, independence, no perfect multicollinearity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Zero conditional mean: E[ε|X] = 0 — no systematic error given predictors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Homoskedasticity: constant error variance across X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Normality: needed for exact small-sample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residual-vs-fitted plot shows a clear funnel shape (residuals fan out as fitted values increase). Which assumption is violated, and which part of the analysis does it put at risk — the coefficients themselves, or the standard errors?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Standard Errors, Confidence Intervals, p-values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coefficient's standard error measures how much it would vary across fresh samples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95% CI is a range of plausible values built from the estimate ± SE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p-value asks: how surprising is this data if the true effect were zero?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Statistical significance ≠ practical importance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coefficient estimate is 0.8 with a 95% CI of [0.75, 0.85]. A second coefficient is 12.0 with a 95% CI of [-3.0, 27.0]. Which estimate is more precise, and which is more likely to be practically important if both are statistically significant?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R² and Measuring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R² = 1 − (SS_residual / SS_total): proportion of variance explained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R² = 0 means no better than predicting the mean every time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Adding any predictor can only increase raw R² — use adjusted R² to penalize this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Low R² does not mean a coefficient is unimportant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model has SS_total = 500 and SS_residual = 100. Compute R². If a second predictor is added and SS_residual drops to 95, did the model necessarily improve in a meaningful way?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Residual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Residuals vs. fitted: look for curves (non-linearity) or funnels (heteroskedasticity)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Q-Q plot: checks whether residuals are normally distributed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Leverage and Cook's distance: flag unusual or influential points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model that runs without error can still badly violate its assumptions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Anscombe's Quartet is four datasets with identical means, variances, correlation, and regression line — but very different shapes. What single diagnostic step would reveal the difference that summary statistics hide?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Multicollinearity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Highly correlated predictors make individual coefficients unstable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Predicted values usually remain reliable even when coefficients are shaky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VIF (Variance Inflation Factor) quantifies the instability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VIF above roughly 5–10 is commonly flagged as concerning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Two predictors — height in centimeters and height in inches — are both included in a regression. Predict what will happen to their individual coefficients and standard errors, and explain why the model's overall predictions are still likely to be fine.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Ridge and Lasso Regularization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Ridge adds a penalty λΣβⱼ² — shrinks coefficients toward zero, keeps them all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Lasso adds a penalty λΣ|βⱼ| — can shrink coefficients to exactly zero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Regularization requires standardized features first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More regularization = more bias, less variance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You have 100 candidate predictors and suspect only 5 genuinely matter. Would ridge or lasso be more useful for identifying which 5?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Logistic Regression and Log-Odds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For binary outcomes, model the log-odds: logit(p) = log(p/(1−p)) = β₀+β₁x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Invert to get a probability: p = 1 / (1 + exp(−(β₀+β₁x)))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exp(βⱼ) is the multiplicative change in ODDS, not probability, per unit of 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probability of an event is p = 0.8. Compute the odds. Then, if a coefficient's exp(β) = 1.5, what happens to the odds (not the probability) when x increases by 1?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Evaluating Classification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Precision: of predicted positives, how many were correct?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Recall: of actual positives, how many did we find?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Accuracy is misleading when classes are imbalanced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ROC-AUC and PR-AUC summarize performance across all thresholds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Out of 100 emails, a spam filter flags 20 as spam. Of those, 15 are genuinely spam. There were 25 genuine spam emails total. Compute precision and recall.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Cross-Validation and Data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Train/test split: hold out data to estimate out-of-sample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K-fold cross-validation: repeat the split k times for a more stable estimate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Leakage: letting test-set information influence training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Fit scaling/imputation only on the training fold — never on the full dataset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colleague standardizes the entire dataset (mean/variance from all rows) before doing a train/test split, then reports high test accuracy. What is wrong with this workflow?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From-Scratch vs. Library Implementations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Pure Python: every calculation explicit — nothing is a black box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NumPy: vectorized linear algebra underneath almost everything else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statsmodels: rich inference — coefficients, SEs, p-values, diagnostics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scikit-learn: fast, consistent pipelines for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You need to report a coefficient's p-value and confidence interval for a research paper. Which library is the right tool, and why not the other 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"Significant" ≠ "important" — always report magnitude and units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Scaling before splitting causes leakage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Reusing the test set repeatedly turns it into training information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Deleting every outlier without investigating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model reports p &lt; 0.001 for a coefficient of 0.0003 on an outcome measured in millions of dollars. Is this result practically important? What else would you want to know?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Concept: Causal Caution — Correlation Is Not Causation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confounder is an unmeasured factor driving both x and 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Omitted-variable bias: leaving out a confounder correlated with x biases β̂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High predictive accuracy does not imply a safe intervention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Causal claims need a causal design, not just a regression coefficient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Ice cream sales strongly predict drowning deaths across months. Identify the confounder, and explain why reducing ice cream sales would not reduce drownings.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Mastery Check: Are You Ready to Move 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0D9488"/>
                </a:solidFill>
              </a:rPr>
              <a:t>If you can answer every question below confidently, you have mastered Chapter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4892040"/>
          </a:xfrm>
          <a:prstGeom prst="roundRect">
            <a:avLst/>
          </a:prstGeom>
          <a:solidFill>
            <a:srgbClr val="EA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1.  Explain the difference between epsilon (the true disturbance) and e (the observed residual).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2.  Derive the simple regression slope b1 = Sxy/Sxx from the normal equations.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3.  State all five core OLS assumptions and name which guarantee each one supports.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4.  Explain why a prediction interval is always wider than a confidence interval for the mean.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5.  Give an example where R² is low but a coefficient is still substantively important.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6.  Explain why near multicollinearity damages coefficient interpretation but not necessarily prediction.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7.  Explain why ridge requires feature scaling and why lasso can produce exactly-zero coefficients.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8.  Convert a probability to odds and to log-odds, and explain what exp(beta) means in logistic regression.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9.  Explain why accuracy is a misleading metric under severe class imbalance.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10.  Explain why fitting a scaler on the full dataset before splitting causes data leakage.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11.  Implement simple linear regression from scratch in pure Python and verify it against a known example.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12.  Fit the same model in statsmodels and scikit-learn and explain why you'd choose one over the other.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13.  Give a concrete example where a regression shows strong association but no plausible causal path.</a:t>
            </a:r>
          </a:p>
          <a:p>
            <a:pPr algn="l">
              <a:spcAft>
                <a:spcPts val="600"/>
              </a:spcAft>
              <a:defRPr sz="1250">
                <a:solidFill>
                  <a:srgbClr val="1B264F"/>
                </a:solidFill>
              </a:defRPr>
            </a:pPr>
            <a:r>
              <a:t>14.  Explain, in one sentence each, what a p-value is and what it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