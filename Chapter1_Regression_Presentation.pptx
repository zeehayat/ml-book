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group. This deck walks through Chapter 1 of the handbook end to end: why regression matters, the math behind it, how to build it from scratch in pure Python, how to use it with real libraries, and how to avoid the most common mistakes. No prior statistics or calculus background is assumed — we build every idea from the ground up, the same way the written chapter does.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this is a genuinely staged curriculum, not a grab-bag of topics. Part 0 exists because many learners stall on regression not because regression is hard, but because a rearranged formula or a logarithm rule was never taught explicitly. Part II (from scratch) exists so that Part III's library calls are never a black box.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a simple x-y plane on the whiteboard if possible. Plug in two or three values of x and show how y changes. Make sure everyone can rearrange y = a + bx to solve for x before moving on — this exact algebra reappears when we invert a fitted model to answer 'what input would produce this output?'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previews material students will need soon: log transformations for skewed data, and the logit link in logistic regression. Reassure them we return to this in depth right before logistic regression is introduced — this is just a preview so the vocabulary is not new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useful one-line intuition in the whole chapter: slope = Cov(x,y) / Var(x). Everything about simple linear regression's slope formula follows from this. Emphasize that every number computed from a sample is an estimate, not the true population quantity — a theme that returns constantly.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Live-code a tiny example if possible: define x and y as lists, write a mean() function, and compute the mean of both. This is deliberately minimal — Chapter 1's pure-Python section uses nothing beyond what's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is one students get wrong constantly in later work: a high R^2 or good test accuracy says nothing about whether x causes y. We return to this explicitly in the causal-caution slide near the end of the deck.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every arithmetic step on the board — do not skip to the answer. This worked example contains the entire vocabulary of regression in one place: data, average, slope, intercept, prediction, and residual. Ask the group to recompute one point themselves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(epsilon vs. e) is exercise C1 in the chapter and trips students up constantly. Epsilon is a property of the true, unknown data-generating process; the residual e is computed from our fitted model and depends on how good our estimate 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group has seen any calculus, connect this explicitly to finding a minimum of a parabola. If not, it's fine to state the result and verify it numerically against the worked example from two slides ago — plug in the numbers and confirm b1=0.6, b0=2.2.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Reassure the group that (X^T X)^-1 X^T y looks intimidating but is exactly the same optimization as simple regression, generalized. This is a good moment to connect back to the linear algebra foundations (vectors, matrix multiplication, transpose) from Part 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whiteboard is available, sketch y as a vector sticking out of the plane spanned by the columns of X, with the fitted value as its shadow (projection) on that plane, and the residual as the vertical vector connecting them. This picture makes 'X^T e = 0' intuitive rather than a memorized fact.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assumption by assumption and name what breaks if it's violated: heteroskedasticity breaks standard errors, not unbiasedness; omitted-variable bias breaks zero conditional mean; perfect multicollinearity breaks the matrix inversion entirely. This framing prevents the common all-or-nothing misunderstanding of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commonly misunderstood idea in applied statistics. Spend real time here. Emphasize the difference between statistical significance (a small p-value) and practical/substantive importance (the size of the effect in real-world units).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concrete example: a clinical trial where treatment has a real, large, statistically significant effect, but human health outcomes vary so much between individuals that R^2 stays low. This breaks the common 'R^2 close to 1 = good model' shortcut thinking.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time allows, show real residual plots (Anscombe's quartet is an excellent, classic example: four datasets with identical summary statistics but wildly different shapes and residual patterns). Emphasize that a computed R^2 alone can never reveal this.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a concrete intuition: if two predictors are nearly identical (e.g., height in cm and height in inches), the model cannot tell which one 'deserves credit' for an effect, so their individual coefficients can swing wildly with small data changes, even though the combined prediction stays stable.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geometric difference (smooth ridge ball vs. cornered lasso diamond) is exactly why lasso can perform variable selection and ridge cannot. If you have access to a picture of the L1 diamond vs. L2 circle constraint regions, show it here.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explicitly to the logs/odds refresher slide from earlier in the deck. Many students find logistic regression hard only because odds and log-odds were never made concrete — once that's solid, the rest of logistic regression is a direct analogy to linear regression.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a concrete confusion matrix with small numbers on the board. Compute accuracy, precision, and recall by hand for an imbalanced example so students feel the gap between 'high accuracy' and 'good classifier' directly.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philosophical heart of Part II. Encourage the group to actually run the from-scratch code and modify it — change the learning rate, break the assumptions deliberately, and watch what happens to the fitted coefficients.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live environment is available, demo fitting the exact same small dataset in both statsmodels (show the coefficient table with p-values) and scikit-learn (show a cross-validated prediction pipeline) so students see the two philosophies directly.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group if they've seen or made any of these mistakes themselves — this usually generates good discussion. The 'scale before splitting' mistake is worth a live demonstration if time allows, since it is extremely common and easy to miss.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the group to the chapter's own answer keys for every tier. Suggest picking one topic (e.g. ridge regression) and working it through C -&gt; D -&gt; P -&gt; L as a full practice loop before the next study session.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closes the loop back to the very first 'four goals of regression' slide. Make sure the group leaves understanding that prediction and causal inference are genuinely different tasks requiring different evidence.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encouragement: regression is the single most important model family in this handbook because nearly everything later either is a regression or borrows its core ideas (a linear predictor, a loss function, gradient-based fitting).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Regression_analysis"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Regression_analysis"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khanacademy.org/math/algebra"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Logarithm"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eeing-theory.brown.edu/"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python.org/3/tutorial/"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Correlation_does_not_imply_causation"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statquest"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Ordinary_least_squares"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3blue1brown.com/topics/calculus"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Design_matrix"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Projection_(linear_algebra)"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Gauss%E2%80%93Markov_theorem"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Confidence_interval"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Coefficient_of_determination"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Anscombe%27s_quartet"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Variance_inflation_factor" TargetMode="Externa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Regularization_(mathematics)"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Logistic_regression"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Precision_and_recall"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alpython.com/linear-regression-in-python/"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cikit-learn.org/stable/modules/linear_model.html"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cikit-learn.org/stable/common_pitfalls.html"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Regression_analysis" TargetMode="Externa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Confounding" TargetMode="Externa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Generalized_linear_model" TargetMode="External"/><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400" b="1">
                <a:solidFill>
                  <a:srgbClr val="FFFFFF"/>
                </a:solidFill>
              </a:defRPr>
            </a:pPr>
            <a:r>
              <a:t>Chapter 1: Linear Regression &amp; Logistic Models</a:t>
            </a:r>
          </a:p>
        </p:txBody>
      </p:sp>
      <p:sp>
        <p:nvSpPr>
          <p:cNvPr id="3" name="TextBox 2"/>
          <p:cNvSpPr txBox="1"/>
          <p:nvPr/>
        </p:nvSpPr>
        <p:spPr>
          <a:xfrm>
            <a:off x="731520" y="2743200"/>
            <a:ext cx="10728655" cy="1371600"/>
          </a:xfrm>
          <a:prstGeom prst="rect">
            <a:avLst/>
          </a:prstGeom>
          <a:noFill/>
        </p:spPr>
        <p:txBody>
          <a:bodyPr wrap="square">
            <a:spAutoFit/>
          </a:bodyPr>
          <a:lstStyle/>
          <a:p>
            <a:pPr algn="ctr"/>
            <a:r>
              <a:rPr sz="2200" i="1">
                <a:solidFill>
                  <a:srgbClr val="0D9488"/>
                </a:solidFill>
              </a:rPr>
              <a:t>Zero-to-Research Machine Learning Handbook — A First Course for Starting Students</a:t>
            </a:r>
          </a:p>
        </p:txBody>
      </p:sp>
      <p:sp>
        <p:nvSpPr>
          <p:cNvPr id="4" name="Rectangle 3"/>
          <p:cNvSpPr/>
          <p:nvPr/>
        </p:nvSpPr>
        <p:spPr>
          <a:xfrm>
            <a:off x="731520" y="2468880"/>
            <a:ext cx="2743200" cy="508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Course text: Chapter 1 (this handbook)</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1 / 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Chapter 1 Roadmap</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Part 0 — Foundations: the algebra, logs, probability, and Python you need first</a:t>
            </a:r>
          </a:p>
          <a:p>
            <a:pPr>
              <a:spcAft>
                <a:spcPts val="1200"/>
              </a:spcAft>
              <a:defRPr sz="1900">
                <a:solidFill>
                  <a:srgbClr val="22222A"/>
                </a:solidFill>
              </a:defRPr>
            </a:pPr>
            <a:r>
              <a:t>•  Part I — Mathematical Foundations: what regression is and how it is derived</a:t>
            </a:r>
          </a:p>
          <a:p>
            <a:pPr>
              <a:spcAft>
                <a:spcPts val="1200"/>
              </a:spcAft>
              <a:defRPr sz="1900">
                <a:solidFill>
                  <a:srgbClr val="22222A"/>
                </a:solidFill>
              </a:defRPr>
            </a:pPr>
            <a:r>
              <a:t>•  Part II — From Scratch: building regression in pure Python, no libraries</a:t>
            </a:r>
          </a:p>
          <a:p>
            <a:pPr>
              <a:spcAft>
                <a:spcPts val="1200"/>
              </a:spcAft>
              <a:defRPr sz="1900">
                <a:solidFill>
                  <a:srgbClr val="22222A"/>
                </a:solidFill>
              </a:defRPr>
            </a:pPr>
            <a:r>
              <a:t>•  Part III — Libraries: NumPy, pandas, statsmodels, scikit-learn</a:t>
            </a:r>
          </a:p>
          <a:p>
            <a:pPr>
              <a:spcAft>
                <a:spcPts val="1200"/>
              </a:spcAft>
              <a:defRPr sz="1900">
                <a:solidFill>
                  <a:srgbClr val="22222A"/>
                </a:solidFill>
              </a:defRPr>
            </a:pPr>
            <a:r>
              <a:t>•  Part IV — Exercises: conceptual → derivation → coding → library tiers</a:t>
            </a:r>
          </a:p>
          <a:p>
            <a:pPr>
              <a:spcAft>
                <a:spcPts val="1200"/>
              </a:spcAft>
              <a:defRPr sz="1900">
                <a:solidFill>
                  <a:srgbClr val="22222A"/>
                </a:solidFill>
              </a:defRPr>
            </a:pPr>
            <a:r>
              <a:t>•  Part V — Research-Level Practice: what comes after you're comfortable</a:t>
            </a:r>
          </a:p>
        </p:txBody>
      </p:sp>
      <p:sp>
        <p:nvSpPr>
          <p:cNvPr id="4" name="Rounded Rectangle 3"/>
          <p:cNvSpPr/>
          <p:nvPr/>
        </p:nvSpPr>
        <p:spPr>
          <a:xfrm>
            <a:off x="640080" y="5047488"/>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Each part builds on the last — do not skip Part 0 even if it looks basic.</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How to use this guide (full chapter)</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2 / 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Math Refresher: Variables, Slope, and Intercept</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A variable is a symbol that can change: x (rainfall), y (crop yield)</a:t>
            </a:r>
          </a:p>
          <a:p>
            <a:pPr>
              <a:spcAft>
                <a:spcPts val="1200"/>
              </a:spcAft>
              <a:defRPr sz="1900">
                <a:solidFill>
                  <a:srgbClr val="22222A"/>
                </a:solidFill>
              </a:defRPr>
            </a:pPr>
            <a:r>
              <a:t>•  A line is written  y = a + b·x</a:t>
            </a:r>
          </a:p>
          <a:p>
            <a:pPr>
              <a:spcAft>
                <a:spcPts val="1200"/>
              </a:spcAft>
              <a:defRPr sz="1900">
                <a:solidFill>
                  <a:srgbClr val="22222A"/>
                </a:solidFill>
              </a:defRPr>
            </a:pPr>
            <a:r>
              <a:t>•  a is the intercept: the value of y when x = 0</a:t>
            </a:r>
          </a:p>
          <a:p>
            <a:pPr>
              <a:spcAft>
                <a:spcPts val="1200"/>
              </a:spcAft>
              <a:defRPr sz="1900">
                <a:solidFill>
                  <a:srgbClr val="22222A"/>
                </a:solidFill>
              </a:defRPr>
            </a:pPr>
            <a:r>
              <a:t>•  b is the slope: how much y changes per one-unit increase in x</a:t>
            </a:r>
          </a:p>
          <a:p>
            <a:pPr>
              <a:spcAft>
                <a:spcPts val="1200"/>
              </a:spcAft>
              <a:defRPr sz="1900">
                <a:solidFill>
                  <a:srgbClr val="22222A"/>
                </a:solidFill>
              </a:defRPr>
            </a:pPr>
            <a:r>
              <a:t>•  Rearranging: given y, a, b → solve for x = (y − a) / b</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Every regression coefficient you will ever fit is just a slope, generalized to many predictors at once.</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Khan Academy: slope &amp; linear equations</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3 / 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Math Refresher: Logs, Exponentials, and Odds</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Exponential growth multiplies by a fixed factor each step: 2, 4, 8, 16, ...</a:t>
            </a:r>
          </a:p>
          <a:p>
            <a:pPr>
              <a:spcAft>
                <a:spcPts val="1200"/>
              </a:spcAft>
              <a:defRPr sz="1900">
                <a:solidFill>
                  <a:srgbClr val="22222A"/>
                </a:solidFill>
              </a:defRPr>
            </a:pPr>
            <a:r>
              <a:t>•  A logarithm undoes an exponential: log(exp(x)) = x</a:t>
            </a:r>
          </a:p>
          <a:p>
            <a:pPr>
              <a:spcAft>
                <a:spcPts val="1200"/>
              </a:spcAft>
              <a:defRPr sz="1900">
                <a:solidFill>
                  <a:srgbClr val="22222A"/>
                </a:solidFill>
              </a:defRPr>
            </a:pPr>
            <a:r>
              <a:t>•  Log rules: log(ab) = log(a)+log(b);  log(a/b) = log(a)−log(b);  log(a^c) = c·log(a)</a:t>
            </a:r>
          </a:p>
          <a:p>
            <a:pPr>
              <a:spcAft>
                <a:spcPts val="1200"/>
              </a:spcAft>
              <a:defRPr sz="1900">
                <a:solidFill>
                  <a:srgbClr val="22222A"/>
                </a:solidFill>
              </a:defRPr>
            </a:pPr>
            <a:r>
              <a:t>•  Odds = p / (1−p); log-odds ("logit") can be any real number</a:t>
            </a:r>
          </a:p>
          <a:p>
            <a:pPr>
              <a:spcAft>
                <a:spcPts val="1200"/>
              </a:spcAft>
              <a:defRPr sz="1900">
                <a:solidFill>
                  <a:srgbClr val="22222A"/>
                </a:solidFill>
              </a:defRPr>
            </a:pPr>
            <a:r>
              <a:t>•  Logistic regression models the logit as a straight line — same tool, new scale</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Logs turn products into sums — this is exactly why log-likelihood, not likelihood, is used to fit every model in this handbook.</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Wikipedia: Logarithm</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4 /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Statistics Refresher: Population, Sample, Mean, Variance</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Population: the entire group you want to learn about</a:t>
            </a:r>
          </a:p>
          <a:p>
            <a:pPr>
              <a:spcAft>
                <a:spcPts val="1200"/>
              </a:spcAft>
              <a:defRPr sz="1900">
                <a:solidFill>
                  <a:srgbClr val="22222A"/>
                </a:solidFill>
              </a:defRPr>
            </a:pPr>
            <a:r>
              <a:t>•  Sample: the smaller group you actually observed</a:t>
            </a:r>
          </a:p>
          <a:p>
            <a:pPr>
              <a:spcAft>
                <a:spcPts val="1200"/>
              </a:spcAft>
              <a:defRPr sz="1900">
                <a:solidFill>
                  <a:srgbClr val="22222A"/>
                </a:solidFill>
              </a:defRPr>
            </a:pPr>
            <a:r>
              <a:t>•  Mean: add the values, divide by the count</a:t>
            </a:r>
          </a:p>
          <a:p>
            <a:pPr>
              <a:spcAft>
                <a:spcPts val="1200"/>
              </a:spcAft>
              <a:defRPr sz="1900">
                <a:solidFill>
                  <a:srgbClr val="22222A"/>
                </a:solidFill>
              </a:defRPr>
            </a:pPr>
            <a:r>
              <a:t>•  Variance: how spread out values are around the mean</a:t>
            </a:r>
          </a:p>
          <a:p>
            <a:pPr>
              <a:spcAft>
                <a:spcPts val="1200"/>
              </a:spcAft>
              <a:defRPr sz="1900">
                <a:solidFill>
                  <a:srgbClr val="22222A"/>
                </a:solidFill>
              </a:defRPr>
            </a:pPr>
            <a:r>
              <a:t>•  Covariance: whether two variables move together</a:t>
            </a:r>
          </a:p>
          <a:p>
            <a:pPr>
              <a:spcAft>
                <a:spcPts val="1200"/>
              </a:spcAft>
              <a:defRPr sz="1900">
                <a:solidFill>
                  <a:srgbClr val="22222A"/>
                </a:solidFill>
              </a:defRPr>
            </a:pPr>
            <a:r>
              <a:t>•  Correlation: covariance rescaled to always fall between −1 and 1</a:t>
            </a:r>
          </a:p>
        </p:txBody>
      </p:sp>
      <p:sp>
        <p:nvSpPr>
          <p:cNvPr id="4" name="Rounded Rectangle 3"/>
          <p:cNvSpPr/>
          <p:nvPr/>
        </p:nvSpPr>
        <p:spPr>
          <a:xfrm>
            <a:off x="640080" y="5047488"/>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The simple regression slope is nothing more than covariance(x,y) divided by variance(x).</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Seeing Theory: visual intro to statistics</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Python Refresher: What You Need to Read the Code</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Lists store multiple values: x = [1, 2, 3, 4, 5]</a:t>
            </a:r>
          </a:p>
          <a:p>
            <a:pPr>
              <a:spcAft>
                <a:spcPts val="1200"/>
              </a:spcAft>
              <a:defRPr sz="1900">
                <a:solidFill>
                  <a:srgbClr val="22222A"/>
                </a:solidFill>
              </a:defRPr>
            </a:pPr>
            <a:r>
              <a:t>•  Loops repeat work: for value in x: ...</a:t>
            </a:r>
          </a:p>
          <a:p>
            <a:pPr>
              <a:spcAft>
                <a:spcPts val="1200"/>
              </a:spcAft>
              <a:defRPr sz="1900">
                <a:solidFill>
                  <a:srgbClr val="22222A"/>
                </a:solidFill>
              </a:defRPr>
            </a:pPr>
            <a:r>
              <a:t>•  Functions name reusable logic: def mean(values): return sum(values)/len(values)</a:t>
            </a:r>
          </a:p>
          <a:p>
            <a:pPr>
              <a:spcAft>
                <a:spcPts val="1200"/>
              </a:spcAft>
              <a:defRPr sz="1900">
                <a:solidFill>
                  <a:srgbClr val="22222A"/>
                </a:solidFill>
              </a:defRPr>
            </a:pPr>
            <a:r>
              <a:t>•  zip() pairs values from two lists together</a:t>
            </a:r>
          </a:p>
          <a:p>
            <a:pPr>
              <a:spcAft>
                <a:spcPts val="1200"/>
              </a:spcAft>
              <a:defRPr sz="1900">
                <a:solidFill>
                  <a:srgbClr val="22222A"/>
                </a:solidFill>
              </a:defRPr>
            </a:pPr>
            <a:r>
              <a:t>•  List comprehensions build a new list in one line</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You do not need advanced Python for Chapter 1 — lists, loops, and functions are enough to read every line of code.</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Official Python tutorial</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6 /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What Is Regression, Really?</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Description: summarize how y relates to x in the data you have</a:t>
            </a:r>
          </a:p>
          <a:p>
            <a:pPr>
              <a:spcAft>
                <a:spcPts val="1200"/>
              </a:spcAft>
              <a:defRPr sz="1900">
                <a:solidFill>
                  <a:srgbClr val="22222A"/>
                </a:solidFill>
              </a:defRPr>
            </a:pPr>
            <a:r>
              <a:t>•  Prediction: guess y for a new observation's x</a:t>
            </a:r>
          </a:p>
          <a:p>
            <a:pPr>
              <a:spcAft>
                <a:spcPts val="1200"/>
              </a:spcAft>
              <a:defRPr sz="1900">
                <a:solidFill>
                  <a:srgbClr val="22222A"/>
                </a:solidFill>
              </a:defRPr>
            </a:pPr>
            <a:r>
              <a:t>•  Explanation: estimate how much x influences y, holding other things fixed</a:t>
            </a:r>
          </a:p>
          <a:p>
            <a:pPr>
              <a:spcAft>
                <a:spcPts val="1200"/>
              </a:spcAft>
              <a:defRPr sz="1900">
                <a:solidFill>
                  <a:srgbClr val="22222A"/>
                </a:solidFill>
              </a:defRPr>
            </a:pPr>
            <a:r>
              <a:t>•  Causal inference: what happens to y if we intervene and change x?</a:t>
            </a:r>
          </a:p>
          <a:p>
            <a:pPr>
              <a:spcAft>
                <a:spcPts val="1200"/>
              </a:spcAft>
              <a:defRPr sz="1900">
                <a:solidFill>
                  <a:srgbClr val="22222A"/>
                </a:solidFill>
              </a:defRPr>
            </a:pPr>
            <a:r>
              <a:t>•  These four goals require different levels of assumption — don't mix them up</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A model that predicts well is not automatically a model that explains or proves causation.</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Wikipedia: Correlation does not imply causation</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7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A Tiny Regression, By Hand</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x = [1, 2, 3, 4, 5],  y = [2, 4, 5, 4, 5]</a:t>
            </a:r>
          </a:p>
          <a:p>
            <a:pPr>
              <a:spcAft>
                <a:spcPts val="1200"/>
              </a:spcAft>
              <a:defRPr sz="1900">
                <a:solidFill>
                  <a:srgbClr val="22222A"/>
                </a:solidFill>
              </a:defRPr>
            </a:pPr>
            <a:r>
              <a:t>•  x̄ = 3,  ȳ = 4</a:t>
            </a:r>
          </a:p>
          <a:p>
            <a:pPr>
              <a:spcAft>
                <a:spcPts val="1200"/>
              </a:spcAft>
              <a:defRPr sz="1900">
                <a:solidFill>
                  <a:srgbClr val="22222A"/>
                </a:solidFill>
              </a:defRPr>
            </a:pPr>
            <a:r>
              <a:t>•  slope = Σ(xᵢ−x̄)(yᵢ−ȳ) / Σ(xᵢ−x̄)² = 6/10 = 0.6</a:t>
            </a:r>
          </a:p>
          <a:p>
            <a:pPr>
              <a:spcAft>
                <a:spcPts val="1200"/>
              </a:spcAft>
              <a:defRPr sz="1900">
                <a:solidFill>
                  <a:srgbClr val="22222A"/>
                </a:solidFill>
              </a:defRPr>
            </a:pPr>
            <a:r>
              <a:t>•  intercept = ȳ − slope·x̄ = 4 − 0.6(3) = 2.2</a:t>
            </a:r>
          </a:p>
          <a:p>
            <a:pPr>
              <a:spcAft>
                <a:spcPts val="1200"/>
              </a:spcAft>
              <a:defRPr sz="1900">
                <a:solidFill>
                  <a:srgbClr val="22222A"/>
                </a:solidFill>
              </a:defRPr>
            </a:pPr>
            <a:r>
              <a:t>•  fitted line:  ŷ = 2.2 + 0.6x</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At x=4, the prediction is 4.6; the observed value is 4, so the residual is −0.6.</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StatQuest: Linear Regression, Clearly Explained (YouTube channel)</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8 /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Simple Linear Regression: The Model</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Model:  y = β₀ + β₁x + ε</a:t>
            </a:r>
          </a:p>
          <a:p>
            <a:pPr>
              <a:spcAft>
                <a:spcPts val="1200"/>
              </a:spcAft>
              <a:defRPr sz="1900">
                <a:solidFill>
                  <a:srgbClr val="22222A"/>
                </a:solidFill>
              </a:defRPr>
            </a:pPr>
            <a:r>
              <a:t>•  ε (epsilon) is the unobservable disturbance in the true process</a:t>
            </a:r>
          </a:p>
          <a:p>
            <a:pPr>
              <a:spcAft>
                <a:spcPts val="1200"/>
              </a:spcAft>
              <a:defRPr sz="1900">
                <a:solidFill>
                  <a:srgbClr val="22222A"/>
                </a:solidFill>
              </a:defRPr>
            </a:pPr>
            <a:r>
              <a:t>•  e (the residual) is what we actually observe: e = y − ŷ</a:t>
            </a:r>
          </a:p>
          <a:p>
            <a:pPr>
              <a:spcAft>
                <a:spcPts val="1200"/>
              </a:spcAft>
              <a:defRPr sz="1900">
                <a:solidFill>
                  <a:srgbClr val="22222A"/>
                </a:solidFill>
              </a:defRPr>
            </a:pPr>
            <a:r>
              <a:t>•  Least squares chooses β₀, β₁ to minimize Σeᵢ²</a:t>
            </a:r>
          </a:p>
          <a:p>
            <a:pPr>
              <a:spcAft>
                <a:spcPts val="1200"/>
              </a:spcAft>
              <a:defRPr sz="1900">
                <a:solidFill>
                  <a:srgbClr val="22222A"/>
                </a:solidFill>
              </a:defRPr>
            </a:pPr>
            <a:r>
              <a:t>•  Why squared error? It penalizes large mistakes more, and has clean calculus</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ε and e are not the same thing — e is our best estimate of ε, not ε itself.</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Wikipedia: Ordinary least squares</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9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Deriving the Slope and Intercept</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Take the derivative of Σ(yᵢ−b₀−b₁xᵢ)² with respect to b₀ and b₁</a:t>
            </a:r>
          </a:p>
          <a:p>
            <a:pPr>
              <a:spcAft>
                <a:spcPts val="1200"/>
              </a:spcAft>
              <a:defRPr sz="1900">
                <a:solidFill>
                  <a:srgbClr val="22222A"/>
                </a:solidFill>
              </a:defRPr>
            </a:pPr>
            <a:r>
              <a:t>•  Set both derivatives to zero → the two "normal equations"</a:t>
            </a:r>
          </a:p>
          <a:p>
            <a:pPr>
              <a:spcAft>
                <a:spcPts val="1200"/>
              </a:spcAft>
              <a:defRPr sz="1900">
                <a:solidFill>
                  <a:srgbClr val="22222A"/>
                </a:solidFill>
              </a:defRPr>
            </a:pPr>
            <a:r>
              <a:t>•  Solving them gives:  b₁ = Sₓᵧ / Sₓₓ   and   b₀ = ȳ − b₁x̄</a:t>
            </a:r>
          </a:p>
          <a:p>
            <a:pPr>
              <a:spcAft>
                <a:spcPts val="1200"/>
              </a:spcAft>
              <a:defRPr sz="1900">
                <a:solidFill>
                  <a:srgbClr val="22222A"/>
                </a:solidFill>
              </a:defRPr>
            </a:pPr>
            <a:r>
              <a:t>•  Sₓᵧ = Σ(xᵢ−x̄)(yᵢ−ȳ);   Sₓₓ = Σ(xᵢ−x̄)²</a:t>
            </a:r>
          </a:p>
          <a:p>
            <a:pPr>
              <a:spcAft>
                <a:spcPts val="1200"/>
              </a:spcAft>
              <a:defRPr sz="1900">
                <a:solidFill>
                  <a:srgbClr val="22222A"/>
                </a:solidFill>
              </a:defRPr>
            </a:pPr>
            <a:r>
              <a:t>•  The fitted line always passes through the point (x̄, ȳ)</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This is not magic — it is one application of "set the derivative to zero to find a minimum," the same rule from introductory calculus.</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3Blue1Brown: essence of calculus</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10 /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Multiple Linear Regression &amp; the Design Matrix</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Real problems have many predictors: y = β₀ + β₁x₁ + β₂x₂ + ... + ε</a:t>
            </a:r>
          </a:p>
          <a:p>
            <a:pPr>
              <a:spcAft>
                <a:spcPts val="1200"/>
              </a:spcAft>
              <a:defRPr sz="1900">
                <a:solidFill>
                  <a:srgbClr val="22222A"/>
                </a:solidFill>
              </a:defRPr>
            </a:pPr>
            <a:r>
              <a:t>•  Stack all predictors into a design matrix X (rows = observations, columns = predictors)</a:t>
            </a:r>
          </a:p>
          <a:p>
            <a:pPr>
              <a:spcAft>
                <a:spcPts val="1200"/>
              </a:spcAft>
              <a:defRPr sz="1900">
                <a:solidFill>
                  <a:srgbClr val="22222A"/>
                </a:solidFill>
              </a:defRPr>
            </a:pPr>
            <a:r>
              <a:t>•  Model in matrix form:  y = Xβ + ε</a:t>
            </a:r>
          </a:p>
          <a:p>
            <a:pPr>
              <a:spcAft>
                <a:spcPts val="1200"/>
              </a:spcAft>
              <a:defRPr sz="1900">
                <a:solidFill>
                  <a:srgbClr val="22222A"/>
                </a:solidFill>
              </a:defRPr>
            </a:pPr>
            <a:r>
              <a:t>•  Least squares solution:  β̂ = (XᵀX)⁻¹Xᵀy  — the "normal equations"</a:t>
            </a:r>
          </a:p>
          <a:p>
            <a:pPr>
              <a:spcAft>
                <a:spcPts val="1200"/>
              </a:spcAft>
              <a:defRPr sz="1900">
                <a:solidFill>
                  <a:srgbClr val="22222A"/>
                </a:solidFill>
              </a:defRPr>
            </a:pPr>
            <a:r>
              <a:t>•  Each βⱼ is interpreted "holding all other predictors constant"</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Matrix notation is not a new idea — it is simple regression's algebra, just packing many x's into one object.</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Wikipedia: Design matrix</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11 /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The Geometry of OLS</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Xb̂eta is the projection of y onto the space spanned by X's columns</a:t>
            </a:r>
          </a:p>
          <a:p>
            <a:pPr>
              <a:spcAft>
                <a:spcPts val="1200"/>
              </a:spcAft>
              <a:defRPr sz="1900">
                <a:solidFill>
                  <a:srgbClr val="22222A"/>
                </a:solidFill>
              </a:defRPr>
            </a:pPr>
            <a:r>
              <a:t>•  The residual vector e is orthogonal (perpendicular) to every column of X: Xᵀe = 0</a:t>
            </a:r>
          </a:p>
          <a:p>
            <a:pPr>
              <a:spcAft>
                <a:spcPts val="1200"/>
              </a:spcAft>
              <a:defRPr sz="1900">
                <a:solidFill>
                  <a:srgbClr val="22222A"/>
                </a:solidFill>
              </a:defRPr>
            </a:pPr>
            <a:r>
              <a:t>•  This is why an intercept forces the residuals to sum to exactly zero</a:t>
            </a:r>
          </a:p>
          <a:p>
            <a:pPr>
              <a:spcAft>
                <a:spcPts val="1200"/>
              </a:spcAft>
              <a:defRPr sz="1900">
                <a:solidFill>
                  <a:srgbClr val="22222A"/>
                </a:solidFill>
              </a:defRPr>
            </a:pPr>
            <a:r>
              <a:t>•  Geometrically: OLS finds the closest point to y that X can possibly reach</a:t>
            </a:r>
          </a:p>
        </p:txBody>
      </p:sp>
      <p:sp>
        <p:nvSpPr>
          <p:cNvPr id="4" name="Rounded Rectangle 3"/>
          <p:cNvSpPr/>
          <p:nvPr/>
        </p:nvSpPr>
        <p:spPr>
          <a:xfrm>
            <a:off x="640080" y="3913632"/>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"Closest point" is measured in squared Euclidean distance — this is exactly why the method is called least squares.</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Wikipedia: Projection (linear algebra)</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12 /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The Assumptions Behind OLS</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Linearity: the true relationship is (approximately) linear in the parameters</a:t>
            </a:r>
          </a:p>
          <a:p>
            <a:pPr>
              <a:spcAft>
                <a:spcPts val="1200"/>
              </a:spcAft>
              <a:defRPr sz="1900">
                <a:solidFill>
                  <a:srgbClr val="22222A"/>
                </a:solidFill>
              </a:defRPr>
            </a:pPr>
            <a:r>
              <a:t>•  Independence: observations don't influence each other</a:t>
            </a:r>
          </a:p>
          <a:p>
            <a:pPr>
              <a:spcAft>
                <a:spcPts val="1200"/>
              </a:spcAft>
              <a:defRPr sz="1900">
                <a:solidFill>
                  <a:srgbClr val="22222A"/>
                </a:solidFill>
              </a:defRPr>
            </a:pPr>
            <a:r>
              <a:t>•  No perfect multicollinearity: predictors aren't exact linear combinations of each other</a:t>
            </a:r>
          </a:p>
          <a:p>
            <a:pPr>
              <a:spcAft>
                <a:spcPts val="1200"/>
              </a:spcAft>
              <a:defRPr sz="1900">
                <a:solidFill>
                  <a:srgbClr val="22222A"/>
                </a:solidFill>
              </a:defRPr>
            </a:pPr>
            <a:r>
              <a:t>•  Zero conditional mean: E[ε | X] = 0 — no systematic error given the predictors</a:t>
            </a:r>
          </a:p>
          <a:p>
            <a:pPr>
              <a:spcAft>
                <a:spcPts val="1200"/>
              </a:spcAft>
              <a:defRPr sz="1900">
                <a:solidFill>
                  <a:srgbClr val="22222A"/>
                </a:solidFill>
              </a:defRPr>
            </a:pPr>
            <a:r>
              <a:t>•  Homoskedasticity: constant error variance across all values of X</a:t>
            </a:r>
          </a:p>
          <a:p>
            <a:pPr>
              <a:spcAft>
                <a:spcPts val="1200"/>
              </a:spcAft>
              <a:defRPr sz="1900">
                <a:solidFill>
                  <a:srgbClr val="22222A"/>
                </a:solidFill>
              </a:defRPr>
            </a:pPr>
            <a:r>
              <a:t>•  Normality: needed for exact small-sample inference (less critical with large n)</a:t>
            </a:r>
          </a:p>
        </p:txBody>
      </p:sp>
      <p:sp>
        <p:nvSpPr>
          <p:cNvPr id="4" name="Rounded Rectangle 3"/>
          <p:cNvSpPr/>
          <p:nvPr/>
        </p:nvSpPr>
        <p:spPr>
          <a:xfrm>
            <a:off x="640080" y="5047488"/>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Each assumption supports one specific guarantee — break one, and only that guarantee is at risk, not the whole model.</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Wikipedia: Gauss–Markov theorem</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13 /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Sampling Uncertainty: Standard Errors, CIs, and Tests</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Every coefficient estimate would differ slightly in a fresh sample — that's sampling variation</a:t>
            </a:r>
          </a:p>
          <a:p>
            <a:pPr>
              <a:spcAft>
                <a:spcPts val="1200"/>
              </a:spcAft>
              <a:defRPr sz="1900">
                <a:solidFill>
                  <a:srgbClr val="22222A"/>
                </a:solidFill>
              </a:defRPr>
            </a:pPr>
            <a:r>
              <a:t>•  The standard error measures how much a coefficient would typically vary across samples</a:t>
            </a:r>
          </a:p>
          <a:p>
            <a:pPr>
              <a:spcAft>
                <a:spcPts val="1200"/>
              </a:spcAft>
              <a:defRPr sz="1900">
                <a:solidFill>
                  <a:srgbClr val="22222A"/>
                </a:solidFill>
              </a:defRPr>
            </a:pPr>
            <a:r>
              <a:t>•  A confidence interval reports a plausible range for the true coefficient</a:t>
            </a:r>
          </a:p>
          <a:p>
            <a:pPr>
              <a:spcAft>
                <a:spcPts val="1200"/>
              </a:spcAft>
              <a:defRPr sz="1900">
                <a:solidFill>
                  <a:srgbClr val="22222A"/>
                </a:solidFill>
              </a:defRPr>
            </a:pPr>
            <a:r>
              <a:t>•  A p-value asks: how surprising is this data if the true effect were zero?</a:t>
            </a:r>
          </a:p>
          <a:p>
            <a:pPr>
              <a:spcAft>
                <a:spcPts val="1200"/>
              </a:spcAft>
              <a:defRPr sz="1900">
                <a:solidFill>
                  <a:srgbClr val="22222A"/>
                </a:solidFill>
              </a:defRPr>
            </a:pPr>
            <a:r>
              <a:t>•  95% confidence describes the reliability of the *procedure*, not this one interval</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A small p-value is evidence against 'no effect' — it is not proof the effect is large or important.</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Wikipedia: Confidence interval</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14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Measuring Fit: R² and Adjusted R²</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R² = 1 − (SS_residual / SS_total): proportion of variance explained by the model</a:t>
            </a:r>
          </a:p>
          <a:p>
            <a:pPr>
              <a:spcAft>
                <a:spcPts val="1200"/>
              </a:spcAft>
              <a:defRPr sz="1900">
                <a:solidFill>
                  <a:srgbClr val="22222A"/>
                </a:solidFill>
              </a:defRPr>
            </a:pPr>
            <a:r>
              <a:t>•  R² = 0 means the model does no better than predicting the mean every time</a:t>
            </a:r>
          </a:p>
          <a:p>
            <a:pPr>
              <a:spcAft>
                <a:spcPts val="1200"/>
              </a:spcAft>
              <a:defRPr sz="1900">
                <a:solidFill>
                  <a:srgbClr val="22222A"/>
                </a:solidFill>
              </a:defRPr>
            </a:pPr>
            <a:r>
              <a:t>•  Adding any predictor can only increase (never decrease) raw R²</a:t>
            </a:r>
          </a:p>
          <a:p>
            <a:pPr>
              <a:spcAft>
                <a:spcPts val="1200"/>
              </a:spcAft>
              <a:defRPr sz="1900">
                <a:solidFill>
                  <a:srgbClr val="22222A"/>
                </a:solidFill>
              </a:defRPr>
            </a:pPr>
            <a:r>
              <a:t>•  Adjusted R² penalizes extra predictors that don't earn their keep</a:t>
            </a:r>
          </a:p>
          <a:p>
            <a:pPr>
              <a:spcAft>
                <a:spcPts val="1200"/>
              </a:spcAft>
              <a:defRPr sz="1900">
                <a:solidFill>
                  <a:srgbClr val="22222A"/>
                </a:solidFill>
              </a:defRPr>
            </a:pPr>
            <a:r>
              <a:t>•  A low R² does not mean a coefficient is unimportant (see Exercise C7)</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A randomized trial can have a huge, precisely estimated effect and still a low R², if individual outcomes are just noisy.</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Wikipedia: Coefficient of determination</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15 / 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Residual Diagnostics</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Residuals vs. fitted values: look for curved patterns (non-linearity) or funnel shapes (heteroskedasticity)</a:t>
            </a:r>
          </a:p>
          <a:p>
            <a:pPr>
              <a:spcAft>
                <a:spcPts val="1200"/>
              </a:spcAft>
              <a:defRPr sz="1900">
                <a:solidFill>
                  <a:srgbClr val="22222A"/>
                </a:solidFill>
              </a:defRPr>
            </a:pPr>
            <a:r>
              <a:t>•  Q-Q plot: checks whether residuals follow a normal distribution</a:t>
            </a:r>
          </a:p>
          <a:p>
            <a:pPr>
              <a:spcAft>
                <a:spcPts val="1200"/>
              </a:spcAft>
              <a:defRPr sz="1900">
                <a:solidFill>
                  <a:srgbClr val="22222A"/>
                </a:solidFill>
              </a:defRPr>
            </a:pPr>
            <a:r>
              <a:t>•  Leverage: how unusual a point's predictor values are</a:t>
            </a:r>
          </a:p>
          <a:p>
            <a:pPr>
              <a:spcAft>
                <a:spcPts val="1200"/>
              </a:spcAft>
              <a:defRPr sz="1900">
                <a:solidFill>
                  <a:srgbClr val="22222A"/>
                </a:solidFill>
              </a:defRPr>
            </a:pPr>
            <a:r>
              <a:t>•  Cook's distance: how much removing one point would change the fitted model</a:t>
            </a:r>
          </a:p>
          <a:p>
            <a:pPr>
              <a:spcAft>
                <a:spcPts val="1200"/>
              </a:spcAft>
              <a:defRPr sz="1900">
                <a:solidFill>
                  <a:srgbClr val="22222A"/>
                </a:solidFill>
              </a:defRPr>
            </a:pPr>
            <a:r>
              <a:t>•  A model that 'runs' without errors can still badly violate its assumptions — always plot the residuals</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Diagnostics are not optional extra credit — they are how you find out whether the assumptions from two slides ago actually hold.</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Wikipedia: Anscombe's quartet</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16 / 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Multicollinearity</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Occurs when predictors are highly correlated with each other</a:t>
            </a:r>
          </a:p>
          <a:p>
            <a:pPr>
              <a:spcAft>
                <a:spcPts val="1200"/>
              </a:spcAft>
              <a:defRPr sz="1900">
                <a:solidFill>
                  <a:srgbClr val="22222A"/>
                </a:solidFill>
              </a:defRPr>
            </a:pPr>
            <a:r>
              <a:t>•  Individual coefficients become unstable and hard to interpret</a:t>
            </a:r>
          </a:p>
          <a:p>
            <a:pPr>
              <a:spcAft>
                <a:spcPts val="1200"/>
              </a:spcAft>
              <a:defRPr sz="1900">
                <a:solidFill>
                  <a:srgbClr val="22222A"/>
                </a:solidFill>
              </a:defRPr>
            </a:pPr>
            <a:r>
              <a:t>•  But predicted values (Xb̂eta) usually remain reliable</a:t>
            </a:r>
          </a:p>
          <a:p>
            <a:pPr>
              <a:spcAft>
                <a:spcPts val="1200"/>
              </a:spcAft>
              <a:defRPr sz="1900">
                <a:solidFill>
                  <a:srgbClr val="22222A"/>
                </a:solidFill>
              </a:defRPr>
            </a:pPr>
            <a:r>
              <a:t>•  Variance Inflation Factor (VIF) quantifies how much a coefficient's variance is inflated</a:t>
            </a:r>
          </a:p>
          <a:p>
            <a:pPr>
              <a:spcAft>
                <a:spcPts val="1200"/>
              </a:spcAft>
              <a:defRPr sz="1900">
                <a:solidFill>
                  <a:srgbClr val="22222A"/>
                </a:solidFill>
              </a:defRPr>
            </a:pPr>
            <a:r>
              <a:t>•  VIF above roughly 5–10 is commonly flagged as concerning</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Multicollinearity damages interpretation far more than it damages prediction — know which goal you actually care about.</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Wikipedia: Variance inflation factor</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17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Regularization: Ridge, Lasso, Elastic Net</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Ridge adds a penalty λΣβⱼ² — shrinks coefficients toward zero, keeps them all</a:t>
            </a:r>
          </a:p>
          <a:p>
            <a:pPr>
              <a:spcAft>
                <a:spcPts val="1200"/>
              </a:spcAft>
              <a:defRPr sz="1900">
                <a:solidFill>
                  <a:srgbClr val="22222A"/>
                </a:solidFill>
              </a:defRPr>
            </a:pPr>
            <a:r>
              <a:t>•  Lasso adds a penalty λΣ|βⱼ| — can shrink coefficients to exactly zero (feature selection)</a:t>
            </a:r>
          </a:p>
          <a:p>
            <a:pPr>
              <a:spcAft>
                <a:spcPts val="1200"/>
              </a:spcAft>
              <a:defRPr sz="1900">
                <a:solidFill>
                  <a:srgbClr val="22222A"/>
                </a:solidFill>
              </a:defRPr>
            </a:pPr>
            <a:r>
              <a:t>•  Elastic Net blends both penalties</a:t>
            </a:r>
          </a:p>
          <a:p>
            <a:pPr>
              <a:spcAft>
                <a:spcPts val="1200"/>
              </a:spcAft>
              <a:defRPr sz="1900">
                <a:solidFill>
                  <a:srgbClr val="22222A"/>
                </a:solidFill>
              </a:defRPr>
            </a:pPr>
            <a:r>
              <a:t>•  Regularization requires standardized features — otherwise the penalty is unfair across scales</a:t>
            </a:r>
          </a:p>
          <a:p>
            <a:pPr>
              <a:spcAft>
                <a:spcPts val="1200"/>
              </a:spcAft>
              <a:defRPr sz="1900">
                <a:solidFill>
                  <a:srgbClr val="22222A"/>
                </a:solidFill>
              </a:defRPr>
            </a:pPr>
            <a:r>
              <a:t>•  More regularization = more bias, less variance = a deliberate trade-off, not free lunch</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Ridge is smooth and keeps correlated predictors together; Lasso's sharp corners tend to arbitrarily pick one from a correlated group and zero out the rest.</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Wikipedia: Regularization (mathematics)</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Logistic Regression: From Probability to Log-Odds</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Outcome y is binary (0 or 1) — a straight line can't stay between 0 and 1</a:t>
            </a:r>
          </a:p>
          <a:p>
            <a:pPr>
              <a:spcAft>
                <a:spcPts val="1200"/>
              </a:spcAft>
              <a:defRPr sz="1900">
                <a:solidFill>
                  <a:srgbClr val="22222A"/>
                </a:solidFill>
              </a:defRPr>
            </a:pPr>
            <a:r>
              <a:t>•  Model the log-odds instead:  logit(p) = log(p/(1−p)) = β₀ + β₁x</a:t>
            </a:r>
          </a:p>
          <a:p>
            <a:pPr>
              <a:spcAft>
                <a:spcPts val="1200"/>
              </a:spcAft>
              <a:defRPr sz="1900">
                <a:solidFill>
                  <a:srgbClr val="22222A"/>
                </a:solidFill>
              </a:defRPr>
            </a:pPr>
            <a:r>
              <a:t>•  Invert to get a probability:  p = 1 / (1 + exp(−(β₀+β₁x)))</a:t>
            </a:r>
          </a:p>
          <a:p>
            <a:pPr>
              <a:spcAft>
                <a:spcPts val="1200"/>
              </a:spcAft>
              <a:defRPr sz="1900">
                <a:solidFill>
                  <a:srgbClr val="22222A"/>
                </a:solidFill>
              </a:defRPr>
            </a:pPr>
            <a:r>
              <a:t>•  exp(βⱼ) is the multiplicative change in the ODDS, not the probability, per unit of x</a:t>
            </a:r>
          </a:p>
          <a:p>
            <a:pPr>
              <a:spcAft>
                <a:spcPts val="1200"/>
              </a:spcAft>
              <a:defRPr sz="1900">
                <a:solidFill>
                  <a:srgbClr val="22222A"/>
                </a:solidFill>
              </a:defRPr>
            </a:pPr>
            <a:r>
              <a:t>•  Fit by maximum likelihood, not least squares — no closed-form solution, needs iteration</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Logistic regression is still, at its core, a straight line — just measured on the log-odds scale instead of the raw probability scale.</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Wikipedia: Logistic regression</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19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Evaluating Classification Models</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Confusion matrix: true/false positives and negatives at a chosen threshold</a:t>
            </a:r>
          </a:p>
          <a:p>
            <a:pPr>
              <a:spcAft>
                <a:spcPts val="1200"/>
              </a:spcAft>
              <a:defRPr sz="1900">
                <a:solidFill>
                  <a:srgbClr val="22222A"/>
                </a:solidFill>
              </a:defRPr>
            </a:pPr>
            <a:r>
              <a:t>•  Precision: of predicted positives, how many were correct?</a:t>
            </a:r>
          </a:p>
          <a:p>
            <a:pPr>
              <a:spcAft>
                <a:spcPts val="1200"/>
              </a:spcAft>
              <a:defRPr sz="1900">
                <a:solidFill>
                  <a:srgbClr val="22222A"/>
                </a:solidFill>
              </a:defRPr>
            </a:pPr>
            <a:r>
              <a:t>•  Recall: of actual positives, how many did we find?</a:t>
            </a:r>
          </a:p>
          <a:p>
            <a:pPr>
              <a:spcAft>
                <a:spcPts val="1200"/>
              </a:spcAft>
              <a:defRPr sz="1900">
                <a:solidFill>
                  <a:srgbClr val="22222A"/>
                </a:solidFill>
              </a:defRPr>
            </a:pPr>
            <a:r>
              <a:t>•  Accuracy is misleading when classes are imbalanced (e.g., 2% positive rate)</a:t>
            </a:r>
          </a:p>
          <a:p>
            <a:pPr>
              <a:spcAft>
                <a:spcPts val="1200"/>
              </a:spcAft>
              <a:defRPr sz="1900">
                <a:solidFill>
                  <a:srgbClr val="22222A"/>
                </a:solidFill>
              </a:defRPr>
            </a:pPr>
            <a:r>
              <a:t>•  ROC-AUC and precision-recall AUC summarize performance across all thresholds</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A model that always predicts 'no' can score 98% accuracy on a 2%-positive dataset while being completely useless.</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Wikipedia: Precision and recall</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20 / 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Regression From Scratch, in Pure Python</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No NumPy, pandas, or scikit-learn — only the Python standard library</a:t>
            </a:r>
          </a:p>
          <a:p>
            <a:pPr>
              <a:spcAft>
                <a:spcPts val="1200"/>
              </a:spcAft>
              <a:defRPr sz="1900">
                <a:solidFill>
                  <a:srgbClr val="22222A"/>
                </a:solidFill>
              </a:defRPr>
            </a:pPr>
            <a:r>
              <a:t>•  Implements: mean/variance, simple &amp; multiple OLS, gradient descent, ridge, lasso</a:t>
            </a:r>
          </a:p>
          <a:p>
            <a:pPr>
              <a:spcAft>
                <a:spcPts val="1200"/>
              </a:spcAft>
              <a:defRPr sz="1900">
                <a:solidFill>
                  <a:srgbClr val="22222A"/>
                </a:solidFill>
              </a:defRPr>
            </a:pPr>
            <a:r>
              <a:t>•  Also includes: Student-t distribution, confidence &amp; prediction intervals</a:t>
            </a:r>
          </a:p>
          <a:p>
            <a:pPr>
              <a:spcAft>
                <a:spcPts val="1200"/>
              </a:spcAft>
              <a:defRPr sz="1900">
                <a:solidFill>
                  <a:srgbClr val="22222A"/>
                </a:solidFill>
              </a:defRPr>
            </a:pPr>
            <a:r>
              <a:t>•  Train/test split and k-fold cross-validation, all built by hand</a:t>
            </a:r>
          </a:p>
          <a:p>
            <a:pPr>
              <a:spcAft>
                <a:spcPts val="1200"/>
              </a:spcAft>
              <a:defRPr sz="1900">
                <a:solidFill>
                  <a:srgbClr val="22222A"/>
                </a:solidFill>
              </a:defRPr>
            </a:pPr>
            <a:r>
              <a:t>•  Goal: nothing is a black box — every library call later maps to code you've already written</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If you can explain every line of the from-scratch module, you can never be fooled by a library's default settings.</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Real Python: linear regression in Python</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21 / 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Regression With Python Libraries</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NumPy: the linear algebra engine underneath almost everything else</a:t>
            </a:r>
          </a:p>
          <a:p>
            <a:pPr>
              <a:spcAft>
                <a:spcPts val="1200"/>
              </a:spcAft>
              <a:defRPr sz="1900">
                <a:solidFill>
                  <a:srgbClr val="22222A"/>
                </a:solidFill>
              </a:defRPr>
            </a:pPr>
            <a:r>
              <a:t>•  pandas: loading, cleaning, and preparing tabular data</a:t>
            </a:r>
          </a:p>
          <a:p>
            <a:pPr>
              <a:spcAft>
                <a:spcPts val="1200"/>
              </a:spcAft>
              <a:defRPr sz="1900">
                <a:solidFill>
                  <a:srgbClr val="22222A"/>
                </a:solidFill>
              </a:defRPr>
            </a:pPr>
            <a:r>
              <a:t>•  statsmodels: rich statistical inference — coefficients, SEs, p-values, diagnostics</a:t>
            </a:r>
          </a:p>
          <a:p>
            <a:pPr>
              <a:spcAft>
                <a:spcPts val="1200"/>
              </a:spcAft>
              <a:defRPr sz="1900">
                <a:solidFill>
                  <a:srgbClr val="22222A"/>
                </a:solidFill>
              </a:defRPr>
            </a:pPr>
            <a:r>
              <a:t>•  scikit-learn: fast, consistent pipelines for prediction and cross-validation</a:t>
            </a:r>
          </a:p>
          <a:p>
            <a:pPr>
              <a:spcAft>
                <a:spcPts val="1200"/>
              </a:spcAft>
              <a:defRPr sz="1900">
                <a:solidFill>
                  <a:srgbClr val="22222A"/>
                </a:solidFill>
              </a:defRPr>
            </a:pPr>
            <a:r>
              <a:t>•  Rule of thumb: statsmodels for inference, scikit-learn for prediction pipelines</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Different libraries exist because 'explain the data' and 'predict on new data' are different jobs, even when the underlying model is the same.</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scikit-learn: linear models user guide</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22 /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Common Mistakes and Corrections</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“The coefficient is significant, so the effect is important” → report magnitude &amp; units too</a:t>
            </a:r>
          </a:p>
          <a:p>
            <a:pPr>
              <a:spcAft>
                <a:spcPts val="1200"/>
              </a:spcAft>
              <a:defRPr sz="1900">
                <a:solidFill>
                  <a:srgbClr val="22222A"/>
                </a:solidFill>
              </a:defRPr>
            </a:pPr>
            <a:r>
              <a:t>•  “Scale the full dataset, then split” → fit scaling only inside the training fold</a:t>
            </a:r>
          </a:p>
          <a:p>
            <a:pPr>
              <a:spcAft>
                <a:spcPts val="1200"/>
              </a:spcAft>
              <a:defRPr sz="1900">
                <a:solidFill>
                  <a:srgbClr val="22222A"/>
                </a:solidFill>
              </a:defRPr>
            </a:pPr>
            <a:r>
              <a:t>•  “Use the test set until the model looks good” → test set becomes training info if reused</a:t>
            </a:r>
          </a:p>
          <a:p>
            <a:pPr>
              <a:spcAft>
                <a:spcPts val="1200"/>
              </a:spcAft>
              <a:defRPr sz="1900">
                <a:solidFill>
                  <a:srgbClr val="22222A"/>
                </a:solidFill>
              </a:defRPr>
            </a:pPr>
            <a:r>
              <a:t>•  “A 0.5 threshold is always correct” → choose thresholds from costs and prevalence</a:t>
            </a:r>
          </a:p>
          <a:p>
            <a:pPr>
              <a:spcAft>
                <a:spcPts val="1200"/>
              </a:spcAft>
              <a:defRPr sz="1900">
                <a:solidFill>
                  <a:srgbClr val="22222A"/>
                </a:solidFill>
              </a:defRPr>
            </a:pPr>
            <a:r>
              <a:t>•  “Delete every outlier” → investigate first; unusual points can be genuine and informative</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Almost every 'common mistake' in this chapter is a data-leakage or overclaiming mistake, not an arithmetic one.</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scikit-learn: data leakage guidance</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Practicing What You've Learned: The Exercise Tiers</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Conceptual (C): explain the idea in plain language, no formula allowed</a:t>
            </a:r>
          </a:p>
          <a:p>
            <a:pPr>
              <a:spcAft>
                <a:spcPts val="1200"/>
              </a:spcAft>
              <a:defRPr sz="1900">
                <a:solidFill>
                  <a:srgbClr val="22222A"/>
                </a:solidFill>
              </a:defRPr>
            </a:pPr>
            <a:r>
              <a:t>•  Derivation (D): reconstruct the mathematics from first principles, on paper</a:t>
            </a:r>
          </a:p>
          <a:p>
            <a:pPr>
              <a:spcAft>
                <a:spcPts val="1200"/>
              </a:spcAft>
              <a:defRPr sz="1900">
                <a:solidFill>
                  <a:srgbClr val="22222A"/>
                </a:solidFill>
              </a:defRPr>
            </a:pPr>
            <a:r>
              <a:t>•  Pure-Python coding (P): implement it using only the standard library</a:t>
            </a:r>
          </a:p>
          <a:p>
            <a:pPr>
              <a:spcAft>
                <a:spcPts val="1200"/>
              </a:spcAft>
              <a:defRPr sz="1900">
                <a:solidFill>
                  <a:srgbClr val="22222A"/>
                </a:solidFill>
              </a:defRPr>
            </a:pPr>
            <a:r>
              <a:t>•  Library (L): reproduce the result with NumPy, statsmodels, and scikit-learn</a:t>
            </a:r>
          </a:p>
          <a:p>
            <a:pPr>
              <a:spcAft>
                <a:spcPts val="1200"/>
              </a:spcAft>
              <a:defRPr sz="1900">
                <a:solidFill>
                  <a:srgbClr val="22222A"/>
                </a:solidFill>
              </a:defRPr>
            </a:pPr>
            <a:r>
              <a:t>•  Work one topic through all four tiers before moving to the next topic</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If you can't answer a topic's Conceptual question, do not attempt its Derivation exercise yet — the tiers are a ladder, not a menu.</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Chapter 1 exercises with answer keys</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24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Causal Caution: Correlation Is Not Causation</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Ice cream sales strongly predict drowning deaths — both driven by hot weather</a:t>
            </a:r>
          </a:p>
          <a:p>
            <a:pPr>
              <a:spcAft>
                <a:spcPts val="1200"/>
              </a:spcAft>
              <a:defRPr sz="1900">
                <a:solidFill>
                  <a:srgbClr val="22222A"/>
                </a:solidFill>
              </a:defRPr>
            </a:pPr>
            <a:r>
              <a:t>•  A confounder is an unmeasured factor that drives both x and y</a:t>
            </a:r>
          </a:p>
          <a:p>
            <a:pPr>
              <a:spcAft>
                <a:spcPts val="1200"/>
              </a:spcAft>
              <a:defRPr sz="1900">
                <a:solidFill>
                  <a:srgbClr val="22222A"/>
                </a:solidFill>
              </a:defRPr>
            </a:pPr>
            <a:r>
              <a:t>•  Omitted-variable bias: leaving out a confounder correlated with x biases β̂</a:t>
            </a:r>
          </a:p>
          <a:p>
            <a:pPr>
              <a:spcAft>
                <a:spcPts val="1200"/>
              </a:spcAft>
              <a:defRPr sz="1900">
                <a:solidFill>
                  <a:srgbClr val="22222A"/>
                </a:solidFill>
              </a:defRPr>
            </a:pPr>
            <a:r>
              <a:t>•  High predictive accuracy does NOT imply a safe intervention ("if we change x, y will change")</a:t>
            </a:r>
          </a:p>
          <a:p>
            <a:pPr>
              <a:spcAft>
                <a:spcPts val="1200"/>
              </a:spcAft>
              <a:defRPr sz="1900">
                <a:solidFill>
                  <a:srgbClr val="22222A"/>
                </a:solidFill>
              </a:defRPr>
            </a:pPr>
            <a:r>
              <a:t>•  Causal claims need a causal design: randomization, natural experiments, or explicit assumptions</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A regression coefficient answers 'how are x and y associated in this data?' — not 'what happens if I change x?' unless you can defend that extra assumption.</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Wikipedia: Confounding</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Wrap-Up and Where to Go Next</a:t>
            </a:r>
          </a:p>
        </p:txBody>
      </p:sp>
      <p:sp>
        <p:nvSpPr>
          <p:cNvPr id="3" name="TextBox 2"/>
          <p:cNvSpPr txBox="1"/>
          <p:nvPr/>
        </p:nvSpPr>
        <p:spPr>
          <a:xfrm>
            <a:off x="640080" y="1371600"/>
            <a:ext cx="10911535" cy="3931920"/>
          </a:xfrm>
          <a:prstGeom prst="rect">
            <a:avLst/>
          </a:prstGeom>
          <a:noFill/>
        </p:spPr>
        <p:txBody>
          <a:bodyPr wrap="square">
            <a:spAutoFit/>
          </a:bodyPr>
          <a:lstStyle/>
          <a:p>
            <a:pPr>
              <a:spcAft>
                <a:spcPts val="1200"/>
              </a:spcAft>
              <a:defRPr sz="1900">
                <a:solidFill>
                  <a:srgbClr val="22222A"/>
                </a:solidFill>
              </a:defRPr>
            </a:pPr>
            <a:r>
              <a:t>•  You now have the vocabulary: slope, residual, assumption, standard error, regularization</a:t>
            </a:r>
          </a:p>
          <a:p>
            <a:pPr>
              <a:spcAft>
                <a:spcPts val="1200"/>
              </a:spcAft>
              <a:defRPr sz="1900">
                <a:solidFill>
                  <a:srgbClr val="22222A"/>
                </a:solidFill>
              </a:defRPr>
            </a:pPr>
            <a:r>
              <a:t>•  You've seen regression built twice — once from scratch, once with libraries</a:t>
            </a:r>
          </a:p>
          <a:p>
            <a:pPr>
              <a:spcAft>
                <a:spcPts val="1200"/>
              </a:spcAft>
              <a:defRPr sz="1900">
                <a:solidFill>
                  <a:srgbClr val="22222A"/>
                </a:solidFill>
              </a:defRPr>
            </a:pPr>
            <a:r>
              <a:t>•  You know how to evaluate a model honestly, and how to avoid the most common mistakes</a:t>
            </a:r>
          </a:p>
          <a:p>
            <a:pPr>
              <a:spcAft>
                <a:spcPts val="1200"/>
              </a:spcAft>
              <a:defRPr sz="1900">
                <a:solidFill>
                  <a:srgbClr val="22222A"/>
                </a:solidFill>
              </a:defRPr>
            </a:pPr>
            <a:r>
              <a:t>•  Next: Chapter 2 extends this exact framework to counts, rates, and other outcome types (GLMs)</a:t>
            </a:r>
          </a:p>
          <a:p>
            <a:pPr>
              <a:spcAft>
                <a:spcPts val="1200"/>
              </a:spcAft>
              <a:defRPr sz="1900">
                <a:solidFill>
                  <a:srgbClr val="22222A"/>
                </a:solidFill>
              </a:defRPr>
            </a:pPr>
            <a:r>
              <a:t>•  Practice loop: pick a topic, work C → D → P → L, then move to the next topic</a:t>
            </a:r>
          </a:p>
        </p:txBody>
      </p:sp>
      <p:sp>
        <p:nvSpPr>
          <p:cNvPr id="4" name="Rounded Rectangle 3"/>
          <p:cNvSpPr/>
          <p:nvPr/>
        </p:nvSpPr>
        <p:spPr>
          <a:xfrm>
            <a:off x="640080" y="4480560"/>
            <a:ext cx="10911535" cy="96012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i="1" b="1">
                <a:solidFill>
                  <a:srgbClr val="1B264F"/>
                </a:solidFill>
              </a:rPr>
              <a:t>💡 Key insight: Everything in Chapter 2 (and beyond) is this same regression framework, generalized — master this chapter and the rest gets easier, not harder.</a:t>
            </a:r>
          </a:p>
        </p:txBody>
      </p:sp>
      <p:sp>
        <p:nvSpPr>
          <p:cNvPr id="5" name="TextBox 4"/>
          <p:cNvSpPr txBox="1"/>
          <p:nvPr/>
        </p:nvSpPr>
        <p:spPr>
          <a:xfrm>
            <a:off x="457200" y="6355080"/>
            <a:ext cx="11277295" cy="365760"/>
          </a:xfrm>
          <a:prstGeom prst="rect">
            <a:avLst/>
          </a:prstGeom>
          <a:noFill/>
        </p:spPr>
        <p:txBody>
          <a:bodyPr wrap="square">
            <a:spAutoFit/>
          </a:bodyPr>
          <a:lstStyle/>
          <a:p>
            <a:pPr algn="l"/>
            <a:r>
              <a:rPr sz="1300" i="1">
                <a:solidFill>
                  <a:srgbClr val="1A5CB8"/>
                </a:solidFill>
                <a:hlinkClick r:id="rId2"/>
              </a:rPr>
              <a:t>🔗 Further reading: Generalized Linear Models (Wikipedia, Chapter 2 preview)</a:t>
            </a:r>
          </a:p>
        </p:txBody>
      </p:sp>
      <p:sp>
        <p:nvSpPr>
          <p:cNvPr id="6" name="TextBox 5"/>
          <p:cNvSpPr txBox="1"/>
          <p:nvPr/>
        </p:nvSpPr>
        <p:spPr>
          <a:xfrm>
            <a:off x="11002975" y="6355080"/>
            <a:ext cx="914400" cy="365760"/>
          </a:xfrm>
          <a:prstGeom prst="rect">
            <a:avLst/>
          </a:prstGeom>
          <a:noFill/>
        </p:spPr>
        <p:txBody>
          <a:bodyPr wrap="none">
            <a:spAutoFit/>
          </a:bodyPr>
          <a:lstStyle/>
          <a:p>
            <a:pPr algn="r"/>
            <a:r>
              <a:rPr sz="1100">
                <a:solidFill>
                  <a:srgbClr val="888888"/>
                </a:solidFill>
              </a:rPr>
              <a:t>26 /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