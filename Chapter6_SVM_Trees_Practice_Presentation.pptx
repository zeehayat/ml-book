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Two very different responses to the same problem — linear models can't separate every dataset — meet here: Support Vector Machines and Decision Trees.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for a fixed set of support-vector constraints, the geometric margin equals 2/||w|| — so making ||w|| as small as possible while still satisfying the constraints is mathematically equivalent to making the margin as wide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decrease C — a smaller C tolerates more margin violations, effectively increasing regularization and widening the margin, which should reduce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kernel function implicitly computes what the inner product WOULD be after mapping the data into a higher-dimensional space where it might become linearly separable — since the entire algorithm only ever needs these inner products (never the raw high-dimensional coordinates), the transformation is 'free' computationally.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RBF kernel — it measures local similarity rather than assuming any fixed polynomial shape, and is the standard first choice for non-linearly-separable data like XOR, where no simple linear or low-degree-polynomial boundary exists.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parent entropy H = -0.5*log2(0.5) - 0.5*log2(0.5) = 1.0 (maximally mixed). Each child has entropy 0 (pure), so the weighted average child entropy is 0. Information gain = 1.0 - 0 = 1.0 — the maximum possible gain for a binary split.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set a max_depth (or min_samples_leaf) limit and re-tune it via cross-validation — the 100% training accuracy with a large train-test gap is the classic signature of an unconstrained tree memorizing noise.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without randomization (bootstrap sampling and feature subsampling), every tree would tend to make very similar splits and errors — their errors would be highly CORRELATED, so averaging them provides little variance reduction. The randomization is what decorrelates the trees' mistakes.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because the L1 diamond's corners lie exactly on the coordinate axes (where one coefficient is zero), the loss function's contour lines are geometrically likely to first touch the constraint region AT a corner — setting that coefficient to exactly zero. The L2 circle has no such corners, so the tangent point almost never lands exactly on an axis.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SVM margin maximization (via ||w||^2), L2/ridge regularization on linear/logistic regression coefficients, and decision tree depth/leaf-size limits — all trade a bit of training fit for better generalization by constraining the model's effective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self-check slide. If any question causes hesitation, return to that concept's slide and its exercise before moving to Chapter 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200" b="1">
                <a:solidFill>
                  <a:srgbClr val="FFFFFF"/>
                </a:solidFill>
              </a:defRPr>
            </a:pPr>
            <a:r>
              <a:t>Chapter 6: Non-Linear Spaces &amp; Regularization</a:t>
            </a:r>
          </a:p>
        </p:txBody>
      </p:sp>
      <p:sp>
        <p:nvSpPr>
          <p:cNvPr id="3" name="TextBox 2"/>
          <p:cNvSpPr txBox="1"/>
          <p:nvPr/>
        </p:nvSpPr>
        <p:spPr>
          <a:xfrm>
            <a:off x="731520" y="2743200"/>
            <a:ext cx="10728655" cy="1371600"/>
          </a:xfrm>
          <a:prstGeom prst="rect">
            <a:avLst/>
          </a:prstGeom>
          <a:noFill/>
        </p:spPr>
        <p:txBody>
          <a:bodyPr wrap="square">
            <a:spAutoFit/>
          </a:bodyPr>
          <a:lstStyle/>
          <a:p>
            <a:pPr algn="ctr"/>
            <a:r>
              <a:rPr sz="2200" i="1">
                <a:solidFill>
                  <a:srgbClr val="0D9488"/>
                </a:solidFill>
              </a:rPr>
              <a:t>One concept, one exercise per slide — practice as you go</a:t>
            </a:r>
          </a:p>
        </p:txBody>
      </p:sp>
      <p:sp>
        <p:nvSpPr>
          <p:cNvPr id="4" name="Rectangle 3"/>
          <p:cNvSpPr/>
          <p:nvPr/>
        </p:nvSpPr>
        <p:spPr>
          <a:xfrm>
            <a:off x="731520" y="2468880"/>
            <a:ext cx="2743200" cy="50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The Maximum-Margin Hyperplane</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An SVM finds the separating hyperplane with the WIDEST possible margin</a:t>
            </a:r>
          </a:p>
          <a:p>
            <a:pPr>
              <a:spcAft>
                <a:spcPts val="1000"/>
              </a:spcAft>
              <a:defRPr sz="1800">
                <a:solidFill>
                  <a:srgbClr val="22222A"/>
                </a:solidFill>
              </a:defRPr>
            </a:pPr>
            <a:r>
              <a:t>•  Primal objective: minimize (1/2)||w||² subject to yᵢ(w·xᵢ+b) ≥ 1 for every point</a:t>
            </a:r>
          </a:p>
          <a:p>
            <a:pPr>
              <a:spcAft>
                <a:spcPts val="1000"/>
              </a:spcAft>
              <a:defRPr sz="1800">
                <a:solidFill>
                  <a:srgbClr val="22222A"/>
                </a:solidFill>
              </a:defRPr>
            </a:pPr>
            <a:r>
              <a:t>•  A wider margin means a more confident, more generalizable decision boundary</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Why does minimizing ||w||² (rather than maximizing something directly) correspond to maximizing the margin?</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Soft Margins and the Parameter C</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Real data is rarely perfectly separable — slack variables ξᵢ ≥ 0 allow margin violations</a:t>
            </a:r>
          </a:p>
          <a:p>
            <a:pPr>
              <a:spcAft>
                <a:spcPts val="1000"/>
              </a:spcAft>
              <a:defRPr sz="1800">
                <a:solidFill>
                  <a:srgbClr val="22222A"/>
                </a:solidFill>
              </a:defRPr>
            </a:pPr>
            <a:r>
              <a:t>•  Objective adds a penalty: (1/2)||w||² + C·Σξᵢ</a:t>
            </a:r>
          </a:p>
          <a:p>
            <a:pPr>
              <a:spcAft>
                <a:spcPts val="1000"/>
              </a:spcAft>
              <a:defRPr sz="1800">
                <a:solidFill>
                  <a:srgbClr val="22222A"/>
                </a:solidFill>
              </a:defRPr>
            </a:pPr>
            <a:r>
              <a:t>•  Large C: few violations tolerated, narrower margin, more overfitting risk</a:t>
            </a:r>
          </a:p>
          <a:p>
            <a:pPr>
              <a:spcAft>
                <a:spcPts val="1000"/>
              </a:spcAft>
              <a:defRPr sz="1800">
                <a:solidFill>
                  <a:srgbClr val="22222A"/>
                </a:solidFill>
              </a:defRPr>
            </a:pPr>
            <a:r>
              <a:t>•  Small C: more violations tolerated, wider margin, more regularization</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You train an SVM and it overfits badly, achieving perfect training accuracy but poor test accuracy. Should you increase or decrease C?</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The Dual Problem and the Kernel Trick</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The SVM dual depends on training data ONLY through pairwise inner products xᵢ·xⱼ</a:t>
            </a:r>
          </a:p>
          <a:p>
            <a:pPr>
              <a:spcAft>
                <a:spcPts val="1000"/>
              </a:spcAft>
              <a:defRPr sz="1800">
                <a:solidFill>
                  <a:srgbClr val="22222A"/>
                </a:solidFill>
              </a:defRPr>
            </a:pPr>
            <a:r>
              <a:t>•  A kernel K(xᵢ,xⱼ) can replace this inner product with one computed in a much higher-dimensional space</a:t>
            </a:r>
          </a:p>
          <a:p>
            <a:pPr>
              <a:spcAft>
                <a:spcPts val="1000"/>
              </a:spcAft>
              <a:defRPr sz="1800">
                <a:solidFill>
                  <a:srgbClr val="22222A"/>
                </a:solidFill>
              </a:defRPr>
            </a:pPr>
            <a:r>
              <a:t>•  The high-dimensional coordinates are NEVER actually computed — only the kernel values are</a:t>
            </a:r>
          </a:p>
          <a:p>
            <a:pPr>
              <a:spcAft>
                <a:spcPts val="1000"/>
              </a:spcAft>
              <a:defRPr sz="1800">
                <a:solidFill>
                  <a:srgbClr val="22222A"/>
                </a:solidFill>
              </a:defRPr>
            </a:pPr>
            <a:r>
              <a:t>•  This is how SVMs draw curved decision boundaries using only a linear-separator algorithm</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Explain why the kernel trick lets an SVM separate data that is not linearly separable in its original feature space, without ever explicitly transforming the data.</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Mercer Kernels — Linear, Polynomial, RBF</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Linear kernel: K(x,z) = x·z — no transformation, a standard linear SVM</a:t>
            </a:r>
          </a:p>
          <a:p>
            <a:pPr>
              <a:spcAft>
                <a:spcPts val="1000"/>
              </a:spcAft>
              <a:defRPr sz="1800">
                <a:solidFill>
                  <a:srgbClr val="22222A"/>
                </a:solidFill>
              </a:defRPr>
            </a:pPr>
            <a:r>
              <a:t>•  Polynomial kernel: K(x,z) = (x·z + c)^d — curved, polynomial-degree boundaries</a:t>
            </a:r>
          </a:p>
          <a:p>
            <a:pPr>
              <a:spcAft>
                <a:spcPts val="1000"/>
              </a:spcAft>
              <a:defRPr sz="1800">
                <a:solidFill>
                  <a:srgbClr val="22222A"/>
                </a:solidFill>
              </a:defRPr>
            </a:pPr>
            <a:r>
              <a:t>•  RBF (Gaussian) kernel: K(x,z) = exp(-γ||x-z||²) — infinitely flexible, local similarity</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classic XOR-style dataset (two diagonal clusters of each class) cannot be separated by any straight line. Which kernel would you reach for first, and why?</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Shannon Entropy and Information Gain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Entropy H(S) = -Σ pₖ log₂(pₖ) measures how mixed a node's classes are</a:t>
            </a:r>
          </a:p>
          <a:p>
            <a:pPr>
              <a:spcAft>
                <a:spcPts val="1000"/>
              </a:spcAft>
              <a:defRPr sz="1800">
                <a:solidFill>
                  <a:srgbClr val="22222A"/>
                </a:solidFill>
              </a:defRPr>
            </a:pPr>
            <a:r>
              <a:t>•  H=0 means a node is perfectly pure (one class only); H is maximal when classes are balanced</a:t>
            </a:r>
          </a:p>
          <a:p>
            <a:pPr>
              <a:spcAft>
                <a:spcPts val="1000"/>
              </a:spcAft>
              <a:defRPr sz="1800">
                <a:solidFill>
                  <a:srgbClr val="22222A"/>
                </a:solidFill>
              </a:defRPr>
            </a:pPr>
            <a:r>
              <a:t>•  Information gain = parent entropy − weighted average of children's entropy</a:t>
            </a:r>
          </a:p>
          <a:p>
            <a:pPr>
              <a:spcAft>
                <a:spcPts val="1000"/>
              </a:spcAft>
              <a:defRPr sz="1800">
                <a:solidFill>
                  <a:srgbClr val="22222A"/>
                </a:solidFill>
              </a:defRPr>
            </a:pPr>
            <a:r>
              <a:t>•  A decision tree picks, at every node, the split that MAXIMIZES information gain</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node has 8 examples: 4 of class A, 4 of class B. A candidate split produces two children, each perfectly pure (all A or all B). What is the information gain?</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Why Decision Trees Overfit Without Limits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An unconstrained tree keeps splitting until every leaf is perfectly pure</a:t>
            </a:r>
          </a:p>
          <a:p>
            <a:pPr>
              <a:spcAft>
                <a:spcPts val="1000"/>
              </a:spcAft>
              <a:defRPr sz="1800">
                <a:solidFill>
                  <a:srgbClr val="22222A"/>
                </a:solidFill>
              </a:defRPr>
            </a:pPr>
            <a:r>
              <a:t>•  This means it can memorize the training data completely, including its noise</a:t>
            </a:r>
          </a:p>
          <a:p>
            <a:pPr>
              <a:spcAft>
                <a:spcPts val="1000"/>
              </a:spcAft>
              <a:defRPr sz="1800">
                <a:solidFill>
                  <a:srgbClr val="22222A"/>
                </a:solidFill>
              </a:defRPr>
            </a:pPr>
            <a:r>
              <a:t>•  Regularize via max_depth, min_samples_split, min_samples_leaf, or pruning</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decision tree trained with no depth limit achieves 100% training accuracy but only 65% test accuracy. What's the most direct first fix to try?</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Random Forests — Averaging Away Variance</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Train many trees, each on a bootstrap-resampled subset of the data</a:t>
            </a:r>
          </a:p>
          <a:p>
            <a:pPr>
              <a:spcAft>
                <a:spcPts val="1000"/>
              </a:spcAft>
              <a:defRPr sz="1800">
                <a:solidFill>
                  <a:srgbClr val="22222A"/>
                </a:solidFill>
              </a:defRPr>
            </a:pPr>
            <a:r>
              <a:t>•  Each split considers only a random subset of features (typically √D)</a:t>
            </a:r>
          </a:p>
          <a:p>
            <a:pPr>
              <a:spcAft>
                <a:spcPts val="1000"/>
              </a:spcAft>
              <a:defRPr sz="1800">
                <a:solidFill>
                  <a:srgbClr val="22222A"/>
                </a:solidFill>
              </a:defRPr>
            </a:pPr>
            <a:r>
              <a:t>•  Averaging many decorrelated trees' predictions reduces variance without increasing bias much</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Why does training many trees on the SAME full dataset with the SAME features (no bootstrapping, no feature subsampling) fail to give the variance-reduction benefit of a real random forest?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L1 vs. L2 Regularization Geometry</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L1 (lasso) constraint region is a diamond with corners on the coordinate axes</a:t>
            </a:r>
          </a:p>
          <a:p>
            <a:pPr>
              <a:spcAft>
                <a:spcPts val="1000"/>
              </a:spcAft>
              <a:defRPr sz="1800">
                <a:solidFill>
                  <a:srgbClr val="22222A"/>
                </a:solidFill>
              </a:defRPr>
            </a:pPr>
            <a:r>
              <a:t>•  L2 (ridge) constraint region is a smooth sphere/circle</a:t>
            </a:r>
          </a:p>
          <a:p>
            <a:pPr>
              <a:spcAft>
                <a:spcPts val="1000"/>
              </a:spcAft>
              <a:defRPr sz="1800">
                <a:solidFill>
                  <a:srgbClr val="22222A"/>
                </a:solidFill>
              </a:defRPr>
            </a:pPr>
            <a:r>
              <a:t>•  The loss contours are more likely to touch a DIAMOND's corner — producing exact zeros</a:t>
            </a:r>
          </a:p>
          <a:p>
            <a:pPr>
              <a:spcAft>
                <a:spcPts val="1000"/>
              </a:spcAft>
              <a:defRPr sz="1800">
                <a:solidFill>
                  <a:srgbClr val="22222A"/>
                </a:solidFill>
              </a:defRPr>
            </a:pPr>
            <a:r>
              <a:t>•  A smooth sphere has no corners — coefficients shrink but rarely hit exactly zero</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Using the geometric picture (not the calculus), explain in one or two sentences why lasso can perform feature selection but ridge cannot.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Concept: SVM Margin Maximization Is Also Regularization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SVM's (1/2)||w||² term is structurally identical to L2 (ridge) regularization</a:t>
            </a:r>
          </a:p>
          <a:p>
            <a:pPr>
              <a:spcAft>
                <a:spcPts val="1000"/>
              </a:spcAft>
              <a:defRPr sz="1800">
                <a:solidFill>
                  <a:srgbClr val="22222A"/>
                </a:solidFill>
              </a:defRPr>
            </a:pPr>
            <a:r>
              <a:t>•  Margin maximization, decision-tree depth limits, and weight decay all share ONE principle:</a:t>
            </a:r>
          </a:p>
          <a:p>
            <a:pPr>
              <a:spcAft>
                <a:spcPts val="1000"/>
              </a:spcAft>
              <a:defRPr sz="1800">
                <a:solidFill>
                  <a:srgbClr val="22222A"/>
                </a:solidFill>
              </a:defRPr>
            </a:pPr>
            <a:r>
              <a:t>•  Penalize model complexity to prevent memorizing noise — the same idea, three different geometries</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Name the three chapter concepts (from this deck and Chapter 1) that are all instances of the exact same 'penalize complexity' principle, just applied in different model families.</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Mastery Check: Are You Ready to Move On?</a:t>
            </a:r>
          </a:p>
        </p:txBody>
      </p:sp>
      <p:sp>
        <p:nvSpPr>
          <p:cNvPr id="3" name="TextBox 2"/>
          <p:cNvSpPr txBox="1"/>
          <p:nvPr/>
        </p:nvSpPr>
        <p:spPr>
          <a:xfrm>
            <a:off x="548640" y="1234440"/>
            <a:ext cx="11094415" cy="457200"/>
          </a:xfrm>
          <a:prstGeom prst="rect">
            <a:avLst/>
          </a:prstGeom>
          <a:noFill/>
        </p:spPr>
        <p:txBody>
          <a:bodyPr wrap="square">
            <a:spAutoFit/>
          </a:bodyPr>
          <a:lstStyle/>
          <a:p>
            <a:r>
              <a:rPr sz="1500" i="1">
                <a:solidFill>
                  <a:srgbClr val="0D9488"/>
                </a:solidFill>
              </a:rPr>
              <a:t>If you can answer every question below confidently, you have mastered Chapter 6.</a:t>
            </a:r>
          </a:p>
        </p:txBody>
      </p:sp>
      <p:sp>
        <p:nvSpPr>
          <p:cNvPr id="4" name="Rounded Rectangle 3"/>
          <p:cNvSpPr/>
          <p:nvPr/>
        </p:nvSpPr>
        <p:spPr>
          <a:xfrm>
            <a:off x="548640" y="1691640"/>
            <a:ext cx="11094415" cy="489204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l">
              <a:spcAft>
                <a:spcPts val="900"/>
              </a:spcAft>
              <a:defRPr sz="1450">
                <a:solidFill>
                  <a:srgbClr val="1B264F"/>
                </a:solidFill>
              </a:defRPr>
            </a:pPr>
            <a:r>
              <a:t>1.  Explain why minimizing ||w||^2 is equivalent to maximizing the SVM's margin.</a:t>
            </a:r>
          </a:p>
          <a:p>
            <a:pPr algn="l">
              <a:spcAft>
                <a:spcPts val="900"/>
              </a:spcAft>
              <a:defRPr sz="1450">
                <a:solidFill>
                  <a:srgbClr val="1B264F"/>
                </a:solidFill>
              </a:defRPr>
            </a:pPr>
            <a:r>
              <a:t>2.  Explain the role of the parameter C and how it trades off margin width against violations.</a:t>
            </a:r>
          </a:p>
          <a:p>
            <a:pPr algn="l">
              <a:spcAft>
                <a:spcPts val="900"/>
              </a:spcAft>
              <a:defRPr sz="1450">
                <a:solidFill>
                  <a:srgbClr val="1B264F"/>
                </a:solidFill>
              </a:defRPr>
            </a:pPr>
            <a:r>
              <a:t>3.  Explain the kernel trick and why it avoids ever computing high-dimensional coordinates explicitly.</a:t>
            </a:r>
          </a:p>
          <a:p>
            <a:pPr algn="l">
              <a:spcAft>
                <a:spcPts val="900"/>
              </a:spcAft>
              <a:defRPr sz="1450">
                <a:solidFill>
                  <a:srgbClr val="1B264F"/>
                </a:solidFill>
              </a:defRPr>
            </a:pPr>
            <a:r>
              <a:t>4.  Compare linear, polynomial, and RBF kernels and when you'd choose each.</a:t>
            </a:r>
          </a:p>
          <a:p>
            <a:pPr algn="l">
              <a:spcAft>
                <a:spcPts val="900"/>
              </a:spcAft>
              <a:defRPr sz="1450">
                <a:solidFill>
                  <a:srgbClr val="1B264F"/>
                </a:solidFill>
              </a:defRPr>
            </a:pPr>
            <a:r>
              <a:t>5.  Compute Shannon entropy and information gain for a given node split by hand.</a:t>
            </a:r>
          </a:p>
          <a:p>
            <a:pPr algn="l">
              <a:spcAft>
                <a:spcPts val="900"/>
              </a:spcAft>
              <a:defRPr sz="1450">
                <a:solidFill>
                  <a:srgbClr val="1B264F"/>
                </a:solidFill>
              </a:defRPr>
            </a:pPr>
            <a:r>
              <a:t>6.  Explain why an unconstrained decision tree always reaches 100% training accuracy.</a:t>
            </a:r>
          </a:p>
          <a:p>
            <a:pPr algn="l">
              <a:spcAft>
                <a:spcPts val="900"/>
              </a:spcAft>
              <a:defRPr sz="1450">
                <a:solidFill>
                  <a:srgbClr val="1B264F"/>
                </a:solidFill>
              </a:defRPr>
            </a:pPr>
            <a:r>
              <a:t>7.  Explain why random forests need BOTH bootstrap sampling and feature subsampling to reduce variance.</a:t>
            </a:r>
          </a:p>
          <a:p>
            <a:pPr algn="l">
              <a:spcAft>
                <a:spcPts val="900"/>
              </a:spcAft>
              <a:defRPr sz="1450">
                <a:solidFill>
                  <a:srgbClr val="1B264F"/>
                </a:solidFill>
              </a:defRPr>
            </a:pPr>
            <a:r>
              <a:t>8.  Explain, geometrically, why lasso produces sparse solutions and ridge does not.</a:t>
            </a:r>
          </a:p>
          <a:p>
            <a:pPr algn="l">
              <a:spcAft>
                <a:spcPts val="900"/>
              </a:spcAft>
              <a:defRPr sz="1450">
                <a:solidFill>
                  <a:srgbClr val="1B264F"/>
                </a:solidFill>
              </a:defRPr>
            </a:pPr>
            <a:r>
              <a:t>9.  Explain why SVM margin maximization, ridge regularization, and tree depth limits are the same underlying idea.</a:t>
            </a:r>
          </a:p>
          <a:p>
            <a:pPr algn="l">
              <a:spcAft>
                <a:spcPts val="900"/>
              </a:spcAft>
              <a:defRPr sz="1450">
                <a:solidFill>
                  <a:srgbClr val="1B264F"/>
                </a:solidFill>
              </a:defRPr>
            </a:pPr>
            <a:r>
              <a:t>10.  Implement a simplified SMO solver or a recursive decision tree from scratch.</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