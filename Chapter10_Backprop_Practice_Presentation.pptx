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slide. This chapter is where every earlier idea — the chain rule from Chapter 4, activation functions from Chapter 9 — combines into one trainable deep network, built and verified from scratch.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backpropagation is a specific, efficient application of the multivariable chain rule to compute gradients through a layered computation — it is a DIFFERENTIATION technique, not an optimization algorithm; the actual optimization (updating weights) is done separately by SGD or a variant, using the gradients backprop supplies.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dW = X^T @ dZ -&gt; (10,32)@(32,5) = (10,5), matching W's shape. db = sum over rows of dZ -&gt; shape (5,), matching b. dX = dZ @ W^T -&gt; (32,5)@(5,10) = (32,10), matching X's shape. All three gradients match the shape of the quantity they're the gradient of, as they must.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[0, 1, 0, 1] — gradient passes through only where input &gt; 0 (strictly). Note the input of exactly 0 also blocks the gradient here since the mask is (input &gt; 0), not (input &gt;= 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Y = [0, 1, 0] (one-hot for class 1). Gradient = P - Y = [0.2-0, 0.5-1, 0.3-0] = [0.2, -0.5, 0.3] — notice the correct class's gradient is negative (pushing its logit up) while incorrect classes get positive gradient (pushing their logits down).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vanishing gradients — the gradient signal must pass back through all 20 layers to reach the earliest ones, and each sigmoid layer's derivative (max 0.25) shrinks the signal multiplicatively; by the time it reaches the earliest layers, it has been multiplied by many small factors and is nearly zero.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it balances the variance-preservation requirement for the FORWARD pass (which depends on n_in) against the equivalent requirement for the BACKWARD pass (which depends on n_out, since the backward pass is itself a matrix multiply by W^T) — averaging the two keeps both directions reasonably well-scaled.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because ReLU zeroes out roughly half of its inputs on average, the variance surviving through the layer is roughly halved — doubling the weight variance (2/n_in rather than 1/n_in) exactly compensates for that loss, keeping the forward signal's variance stable specifically for ReLU networks.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forward() calls them in order: Linear, then ReLU, then Linear. backward() calls them in REVERSE order: the second Linear first, then ReLU, then the first Linear — because the chain rule must start at the output (closest to the loss) and work backward toward the input.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no — the relative error here is roughly |0.0031-0.0029|/max(1,0.0031,0.0029) ≈ 0.0002/0.0031 ≈ 0.065, or about 6.5%, vastly larger than 1e-7. This suggests a real bug in the backward pass, not floating-point noise — 1e-7-level tolerances expect near-exact agreement.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without dividing by batch_size, the accumulated gradient (summed rather than averaged over the batch) roughly doubles when batch size doubles — so the effective step size (learning_rate * gradient) also roughly doubles, silently changing training dynamics whenever batch size changes.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if the layer's forward() stored a reference (not a copy) to the input array, mutating that array afterward changes what backward() sees — the cached 'input' is no longer the value that was actually used to compute the forward output, so the resulting gradient will be computed against the wrong (mutated) values.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(1) the learning rate is too high, causing an update to overshoot into a region with extreme values; (2) a numerically unsafe operation such as log(0) or exp(large_number) inside the loss or an activation, without the stability guards this chapter's sigmoid/softmax implementations use.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self-check slide — and the final one in the series. If any question causes hesitation, return to that concept's slide and its exercise. Completing this chapter closes the Zero-to-Research curriculum's core sequence.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000" b="1">
                <a:solidFill>
                  <a:srgbClr val="FFFFFF"/>
                </a:solidFill>
              </a:defRPr>
            </a:pPr>
            <a:r>
              <a:t>Chapter 10: Deep Feedforward Networks &amp; Backpropagation</a:t>
            </a:r>
          </a:p>
        </p:txBody>
      </p:sp>
      <p:sp>
        <p:nvSpPr>
          <p:cNvPr id="3" name="TextBox 2"/>
          <p:cNvSpPr txBox="1"/>
          <p:nvPr/>
        </p:nvSpPr>
        <p:spPr>
          <a:xfrm>
            <a:off x="731520" y="2743200"/>
            <a:ext cx="10728655" cy="1371600"/>
          </a:xfrm>
          <a:prstGeom prst="rect">
            <a:avLst/>
          </a:prstGeom>
          <a:noFill/>
        </p:spPr>
        <p:txBody>
          <a:bodyPr wrap="square">
            <a:spAutoFit/>
          </a:bodyPr>
          <a:lstStyle/>
          <a:p>
            <a:pPr algn="ctr"/>
            <a:r>
              <a:rPr sz="2200" i="1">
                <a:solidFill>
                  <a:srgbClr val="0D9488"/>
                </a:solidFill>
              </a:rPr>
              <a:t>One concept, one exercise per slide — practice as you go</a:t>
            </a:r>
          </a:p>
        </p:txBody>
      </p:sp>
      <p:sp>
        <p:nvSpPr>
          <p:cNvPr id="4" name="Rectangle 3"/>
          <p:cNvSpPr/>
          <p:nvPr/>
        </p:nvSpPr>
        <p:spPr>
          <a:xfrm>
            <a:off x="731520" y="2468880"/>
            <a:ext cx="2743200" cy="508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02975" y="6400800"/>
            <a:ext cx="914400" cy="365760"/>
          </a:xfrm>
          <a:prstGeom prst="rect">
            <a:avLst/>
          </a:prstGeom>
          <a:noFill/>
        </p:spPr>
        <p:txBody>
          <a:bodyPr wrap="none">
            <a:spAutoFit/>
          </a:bodyPr>
          <a:lstStyle/>
          <a:p>
            <a:pPr algn="r"/>
            <a:r>
              <a:rPr sz="1100">
                <a:solidFill>
                  <a:srgbClr val="888888"/>
                </a:solidFill>
              </a:rPr>
              <a:t>1 / 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2600" b="1">
                <a:solidFill>
                  <a:srgbClr val="FFFFFF"/>
                </a:solidFill>
              </a:defRPr>
            </a:pPr>
            <a:r>
              <a:t>Concept: The Multidimensional Chain Rule</a:t>
            </a:r>
          </a:p>
        </p:txBody>
      </p:sp>
      <p:sp>
        <p:nvSpPr>
          <p:cNvPr id="3" name="TextBox 2"/>
          <p:cNvSpPr txBox="1"/>
          <p:nvPr/>
        </p:nvSpPr>
        <p:spPr>
          <a:xfrm>
            <a:off x="640080" y="1280160"/>
            <a:ext cx="10911535" cy="2743200"/>
          </a:xfrm>
          <a:prstGeom prst="rect">
            <a:avLst/>
          </a:prstGeom>
          <a:noFill/>
        </p:spPr>
        <p:txBody>
          <a:bodyPr wrap="square">
            <a:spAutoFit/>
          </a:bodyPr>
          <a:lstStyle/>
          <a:p>
            <a:pPr>
              <a:spcAft>
                <a:spcPts val="1000"/>
              </a:spcAft>
              <a:defRPr sz="1800">
                <a:solidFill>
                  <a:srgbClr val="22222A"/>
                </a:solidFill>
              </a:defRPr>
            </a:pPr>
            <a:r>
              <a:t>•  A deep network is a chain of matrix-valued functions, not scalar ones</a:t>
            </a:r>
          </a:p>
          <a:p>
            <a:pPr>
              <a:spcAft>
                <a:spcPts val="1000"/>
              </a:spcAft>
              <a:defRPr sz="1800">
                <a:solidFill>
                  <a:srgbClr val="22222A"/>
                </a:solidFill>
              </a:defRPr>
            </a:pPr>
            <a:r>
              <a:t>•  The same chain rule from Chapter 4 applies — just with matrices and vectors instead of scalars</a:t>
            </a:r>
          </a:p>
          <a:p>
            <a:pPr>
              <a:spcAft>
                <a:spcPts val="1000"/>
              </a:spcAft>
              <a:defRPr sz="1800">
                <a:solidFill>
                  <a:srgbClr val="22222A"/>
                </a:solidFill>
              </a:defRPr>
            </a:pPr>
            <a:r>
              <a:t>•  Backpropagation is not a new algorithm — it is the chain rule applied systematically, layer by layer</a:t>
            </a:r>
          </a:p>
        </p:txBody>
      </p:sp>
      <p:sp>
        <p:nvSpPr>
          <p:cNvPr id="4" name="Rounded Rectangle 3"/>
          <p:cNvSpPr/>
          <p:nvPr/>
        </p:nvSpPr>
        <p:spPr>
          <a:xfrm>
            <a:off x="640080" y="3136392"/>
            <a:ext cx="10911535" cy="1554480"/>
          </a:xfrm>
          <a:prstGeom prst="roundRect">
            <a:avLst/>
          </a:prstGeom>
          <a:solidFill>
            <a:srgbClr val="FDF2E2"/>
          </a:solidFill>
          <a:ln w="15875">
            <a:solidFill>
              <a:srgbClr val="B8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450" b="1">
                <a:solidFill>
                  <a:srgbClr val="B86A00"/>
                </a:solidFill>
              </a:rPr>
              <a:t>✏️ Exercise: Why is it accurate to say 'backpropagation is not a new optimization algorithm' when it clearly makes deep learning possible?</a:t>
            </a:r>
          </a:p>
        </p:txBody>
      </p:sp>
      <p:sp>
        <p:nvSpPr>
          <p:cNvPr id="5" name="TextBox 4"/>
          <p:cNvSpPr txBox="1"/>
          <p:nvPr/>
        </p:nvSpPr>
        <p:spPr>
          <a:xfrm>
            <a:off x="11002975" y="6400800"/>
            <a:ext cx="914400" cy="365760"/>
          </a:xfrm>
          <a:prstGeom prst="rect">
            <a:avLst/>
          </a:prstGeom>
          <a:noFill/>
        </p:spPr>
        <p:txBody>
          <a:bodyPr wrap="none">
            <a:spAutoFit/>
          </a:bodyPr>
          <a:lstStyle/>
          <a:p>
            <a:pPr algn="r"/>
            <a:r>
              <a:rPr sz="1100">
                <a:solidFill>
                  <a:srgbClr val="888888"/>
                </a:solidFill>
              </a:rPr>
              <a:t>2 / 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2600" b="1">
                <a:solidFill>
                  <a:srgbClr val="FFFFFF"/>
                </a:solidFill>
              </a:defRPr>
            </a:pPr>
            <a:r>
              <a:t>Concept: Backward Pass for a Linear Layer</a:t>
            </a:r>
          </a:p>
        </p:txBody>
      </p:sp>
      <p:sp>
        <p:nvSpPr>
          <p:cNvPr id="3" name="TextBox 2"/>
          <p:cNvSpPr txBox="1"/>
          <p:nvPr/>
        </p:nvSpPr>
        <p:spPr>
          <a:xfrm>
            <a:off x="640080" y="1280160"/>
            <a:ext cx="10911535" cy="2743200"/>
          </a:xfrm>
          <a:prstGeom prst="rect">
            <a:avLst/>
          </a:prstGeom>
          <a:noFill/>
        </p:spPr>
        <p:txBody>
          <a:bodyPr wrap="square">
            <a:spAutoFit/>
          </a:bodyPr>
          <a:lstStyle/>
          <a:p>
            <a:pPr>
              <a:spcAft>
                <a:spcPts val="1000"/>
              </a:spcAft>
              <a:defRPr sz="1800">
                <a:solidFill>
                  <a:srgbClr val="22222A"/>
                </a:solidFill>
              </a:defRPr>
            </a:pPr>
            <a:r>
              <a:t>•  Forward: Z = X·W + b</a:t>
            </a:r>
          </a:p>
          <a:p>
            <a:pPr>
              <a:spcAft>
                <a:spcPts val="1000"/>
              </a:spcAft>
              <a:defRPr sz="1800">
                <a:solidFill>
                  <a:srgbClr val="22222A"/>
                </a:solidFill>
              </a:defRPr>
            </a:pPr>
            <a:r>
              <a:t>•  dW = Xᵀ · dZ</a:t>
            </a:r>
          </a:p>
          <a:p>
            <a:pPr>
              <a:spcAft>
                <a:spcPts val="1000"/>
              </a:spcAft>
              <a:defRPr sz="1800">
                <a:solidFill>
                  <a:srgbClr val="22222A"/>
                </a:solidFill>
              </a:defRPr>
            </a:pPr>
            <a:r>
              <a:t>•  db = sum of dZ across all rows (the batch dimension)</a:t>
            </a:r>
          </a:p>
          <a:p>
            <a:pPr>
              <a:spcAft>
                <a:spcPts val="1000"/>
              </a:spcAft>
              <a:defRPr sz="1800">
                <a:solidFill>
                  <a:srgbClr val="22222A"/>
                </a:solidFill>
              </a:defRPr>
            </a:pPr>
            <a:r>
              <a:t>•  dX = dZ · Wᵀ  (needed to keep propagating backward into earlier layers)</a:t>
            </a:r>
          </a:p>
        </p:txBody>
      </p:sp>
      <p:sp>
        <p:nvSpPr>
          <p:cNvPr id="4" name="Rounded Rectangle 3"/>
          <p:cNvSpPr/>
          <p:nvPr/>
        </p:nvSpPr>
        <p:spPr>
          <a:xfrm>
            <a:off x="640080" y="3648456"/>
            <a:ext cx="10911535" cy="1554480"/>
          </a:xfrm>
          <a:prstGeom prst="roundRect">
            <a:avLst/>
          </a:prstGeom>
          <a:solidFill>
            <a:srgbClr val="FDF2E2"/>
          </a:solidFill>
          <a:ln w="15875">
            <a:solidFill>
              <a:srgbClr val="B8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450" b="1">
                <a:solidFill>
                  <a:srgbClr val="B86A00"/>
                </a:solidFill>
              </a:rPr>
              <a:t>✏️ Exercise: A linear layer has X shape (32, 10), W shape (10, 5). If dZ has shape (32, 5), what are the shapes of dW, db, and dX? Do they match W, b, and X respectively?</a:t>
            </a:r>
          </a:p>
        </p:txBody>
      </p:sp>
      <p:sp>
        <p:nvSpPr>
          <p:cNvPr id="5" name="TextBox 4"/>
          <p:cNvSpPr txBox="1"/>
          <p:nvPr/>
        </p:nvSpPr>
        <p:spPr>
          <a:xfrm>
            <a:off x="11002975" y="6400800"/>
            <a:ext cx="914400" cy="365760"/>
          </a:xfrm>
          <a:prstGeom prst="rect">
            <a:avLst/>
          </a:prstGeom>
          <a:noFill/>
        </p:spPr>
        <p:txBody>
          <a:bodyPr wrap="none">
            <a:spAutoFit/>
          </a:bodyPr>
          <a:lstStyle/>
          <a:p>
            <a:pPr algn="r"/>
            <a:r>
              <a:rPr sz="1100">
                <a:solidFill>
                  <a:srgbClr val="888888"/>
                </a:solidFill>
              </a:rPr>
              <a:t>3 / 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2600" b="1">
                <a:solidFill>
                  <a:srgbClr val="FFFFFF"/>
                </a:solidFill>
              </a:defRPr>
            </a:pPr>
            <a:r>
              <a:t>Concept: Backward Pass for ReLU and Sigmoid</a:t>
            </a:r>
          </a:p>
        </p:txBody>
      </p:sp>
      <p:sp>
        <p:nvSpPr>
          <p:cNvPr id="3" name="TextBox 2"/>
          <p:cNvSpPr txBox="1"/>
          <p:nvPr/>
        </p:nvSpPr>
        <p:spPr>
          <a:xfrm>
            <a:off x="640080" y="1280160"/>
            <a:ext cx="10911535" cy="2743200"/>
          </a:xfrm>
          <a:prstGeom prst="rect">
            <a:avLst/>
          </a:prstGeom>
          <a:noFill/>
        </p:spPr>
        <p:txBody>
          <a:bodyPr wrap="square">
            <a:spAutoFit/>
          </a:bodyPr>
          <a:lstStyle/>
          <a:p>
            <a:pPr>
              <a:spcAft>
                <a:spcPts val="1000"/>
              </a:spcAft>
              <a:defRPr sz="1800">
                <a:solidFill>
                  <a:srgbClr val="22222A"/>
                </a:solidFill>
              </a:defRPr>
            </a:pPr>
            <a:r>
              <a:t>•  ReLU backward: grad_output * (input &gt; 0) — pass gradient through only where the input was positive</a:t>
            </a:r>
          </a:p>
          <a:p>
            <a:pPr>
              <a:spcAft>
                <a:spcPts val="1000"/>
              </a:spcAft>
              <a:defRPr sz="1800">
                <a:solidFill>
                  <a:srgbClr val="22222A"/>
                </a:solidFill>
              </a:defRPr>
            </a:pPr>
            <a:r>
              <a:t>•  Sigmoid backward: grad_output * output * (1 - output) — uses the CACHED forward output, not the input</a:t>
            </a:r>
          </a:p>
          <a:p>
            <a:pPr>
              <a:spcAft>
                <a:spcPts val="1000"/>
              </a:spcAft>
              <a:defRPr sz="1800">
                <a:solidFill>
                  <a:srgbClr val="22222A"/>
                </a:solidFill>
              </a:defRPr>
            </a:pPr>
            <a:r>
              <a:t>•  Every activation's backward rule needs something cached from its forward pass</a:t>
            </a:r>
          </a:p>
        </p:txBody>
      </p:sp>
      <p:sp>
        <p:nvSpPr>
          <p:cNvPr id="4" name="Rounded Rectangle 3"/>
          <p:cNvSpPr/>
          <p:nvPr/>
        </p:nvSpPr>
        <p:spPr>
          <a:xfrm>
            <a:off x="640080" y="3136392"/>
            <a:ext cx="10911535" cy="1554480"/>
          </a:xfrm>
          <a:prstGeom prst="roundRect">
            <a:avLst/>
          </a:prstGeom>
          <a:solidFill>
            <a:srgbClr val="FDF2E2"/>
          </a:solidFill>
          <a:ln w="15875">
            <a:solidFill>
              <a:srgbClr val="B8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450" b="1">
                <a:solidFill>
                  <a:srgbClr val="B86A00"/>
                </a:solidFill>
              </a:rPr>
              <a:t>✏️ Exercise: A ReLU layer's cached input was [-2, 3, 0, 5]. The incoming gradient is [1, 1, 1, 1]. What is the outgoing gradient?</a:t>
            </a:r>
          </a:p>
        </p:txBody>
      </p:sp>
      <p:sp>
        <p:nvSpPr>
          <p:cNvPr id="5" name="TextBox 4"/>
          <p:cNvSpPr txBox="1"/>
          <p:nvPr/>
        </p:nvSpPr>
        <p:spPr>
          <a:xfrm>
            <a:off x="11002975" y="6400800"/>
            <a:ext cx="914400" cy="365760"/>
          </a:xfrm>
          <a:prstGeom prst="rect">
            <a:avLst/>
          </a:prstGeom>
          <a:noFill/>
        </p:spPr>
        <p:txBody>
          <a:bodyPr wrap="none">
            <a:spAutoFit/>
          </a:bodyPr>
          <a:lstStyle/>
          <a:p>
            <a:pPr algn="r"/>
            <a:r>
              <a:rPr sz="1100">
                <a:solidFill>
                  <a:srgbClr val="888888"/>
                </a:solidFill>
              </a:rPr>
              <a:t>4 / 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2600" b="1">
                <a:solidFill>
                  <a:srgbClr val="FFFFFF"/>
                </a:solidFill>
              </a:defRPr>
            </a:pPr>
            <a:r>
              <a:t>Concept: Softmax + Cross-Entropy — The Elegant Simplification</a:t>
            </a:r>
          </a:p>
        </p:txBody>
      </p:sp>
      <p:sp>
        <p:nvSpPr>
          <p:cNvPr id="3" name="TextBox 2"/>
          <p:cNvSpPr txBox="1"/>
          <p:nvPr/>
        </p:nvSpPr>
        <p:spPr>
          <a:xfrm>
            <a:off x="640080" y="1280160"/>
            <a:ext cx="10911535" cy="2743200"/>
          </a:xfrm>
          <a:prstGeom prst="rect">
            <a:avLst/>
          </a:prstGeom>
          <a:noFill/>
        </p:spPr>
        <p:txBody>
          <a:bodyPr wrap="square">
            <a:spAutoFit/>
          </a:bodyPr>
          <a:lstStyle/>
          <a:p>
            <a:pPr>
              <a:spcAft>
                <a:spcPts val="1000"/>
              </a:spcAft>
              <a:defRPr sz="1800">
                <a:solidFill>
                  <a:srgbClr val="22222A"/>
                </a:solidFill>
              </a:defRPr>
            </a:pPr>
            <a:r>
              <a:t>•  Softmax converts logits to probabilities; cross-entropy measures how wrong those probabilities are</a:t>
            </a:r>
          </a:p>
          <a:p>
            <a:pPr>
              <a:spcAft>
                <a:spcPts val="1000"/>
              </a:spcAft>
              <a:defRPr sz="1800">
                <a:solidFill>
                  <a:srgbClr val="22222A"/>
                </a:solidFill>
              </a:defRPr>
            </a:pPr>
            <a:r>
              <a:t>•  Computed separately, their combined backward pass would be a messy Jacobian product</a:t>
            </a:r>
          </a:p>
          <a:p>
            <a:pPr>
              <a:spcAft>
                <a:spcPts val="1000"/>
              </a:spcAft>
              <a:defRPr sz="1800">
                <a:solidFill>
                  <a:srgbClr val="22222A"/>
                </a:solidFill>
              </a:defRPr>
            </a:pPr>
            <a:r>
              <a:t>•  Computed TOGETHER, the gradient simplifies beautifully to: dLogits = (1/B)(P − Y)</a:t>
            </a:r>
          </a:p>
          <a:p>
            <a:pPr>
              <a:spcAft>
                <a:spcPts val="1000"/>
              </a:spcAft>
              <a:defRPr sz="1800">
                <a:solidFill>
                  <a:srgbClr val="22222A"/>
                </a:solidFill>
              </a:defRPr>
            </a:pPr>
            <a:r>
              <a:t>•  P = predicted probabilities, Y = one-hot true labels, B = batch size</a:t>
            </a:r>
          </a:p>
        </p:txBody>
      </p:sp>
      <p:sp>
        <p:nvSpPr>
          <p:cNvPr id="4" name="Rounded Rectangle 3"/>
          <p:cNvSpPr/>
          <p:nvPr/>
        </p:nvSpPr>
        <p:spPr>
          <a:xfrm>
            <a:off x="640080" y="3648456"/>
            <a:ext cx="10911535" cy="1554480"/>
          </a:xfrm>
          <a:prstGeom prst="roundRect">
            <a:avLst/>
          </a:prstGeom>
          <a:solidFill>
            <a:srgbClr val="FDF2E2"/>
          </a:solidFill>
          <a:ln w="15875">
            <a:solidFill>
              <a:srgbClr val="B8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450" b="1">
                <a:solidFill>
                  <a:srgbClr val="B86A00"/>
                </a:solidFill>
              </a:rPr>
              <a:t>✏️ Exercise: For one example with true class 1 (of 3 classes) and predicted probabilities P=[0.2, 0.5, 0.3], what is the gradient with respect to the logits (ignore the 1/B batch averaging for this single example)?</a:t>
            </a:r>
          </a:p>
        </p:txBody>
      </p:sp>
      <p:sp>
        <p:nvSpPr>
          <p:cNvPr id="5" name="TextBox 4"/>
          <p:cNvSpPr txBox="1"/>
          <p:nvPr/>
        </p:nvSpPr>
        <p:spPr>
          <a:xfrm>
            <a:off x="11002975" y="6400800"/>
            <a:ext cx="914400" cy="365760"/>
          </a:xfrm>
          <a:prstGeom prst="rect">
            <a:avLst/>
          </a:prstGeom>
          <a:noFill/>
        </p:spPr>
        <p:txBody>
          <a:bodyPr wrap="none">
            <a:spAutoFit/>
          </a:bodyPr>
          <a:lstStyle/>
          <a:p>
            <a:pPr algn="r"/>
            <a:r>
              <a:rPr sz="1100">
                <a:solidFill>
                  <a:srgbClr val="888888"/>
                </a:solidFill>
              </a:rPr>
              <a:t>5 / 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2600" b="1">
                <a:solidFill>
                  <a:srgbClr val="FFFFFF"/>
                </a:solidFill>
              </a:defRPr>
            </a:pPr>
            <a:r>
              <a:t>Concept: Gradient Flow Pathologies</a:t>
            </a:r>
          </a:p>
        </p:txBody>
      </p:sp>
      <p:sp>
        <p:nvSpPr>
          <p:cNvPr id="3" name="TextBox 2"/>
          <p:cNvSpPr txBox="1"/>
          <p:nvPr/>
        </p:nvSpPr>
        <p:spPr>
          <a:xfrm>
            <a:off x="640080" y="1280160"/>
            <a:ext cx="10911535" cy="2743200"/>
          </a:xfrm>
          <a:prstGeom prst="rect">
            <a:avLst/>
          </a:prstGeom>
          <a:noFill/>
        </p:spPr>
        <p:txBody>
          <a:bodyPr wrap="square">
            <a:spAutoFit/>
          </a:bodyPr>
          <a:lstStyle/>
          <a:p>
            <a:pPr>
              <a:spcAft>
                <a:spcPts val="1000"/>
              </a:spcAft>
              <a:defRPr sz="1800">
                <a:solidFill>
                  <a:srgbClr val="22222A"/>
                </a:solidFill>
              </a:defRPr>
            </a:pPr>
            <a:r>
              <a:t>•  Vanishing gradients: products of many small Jacobians shrink toward zero across depth</a:t>
            </a:r>
          </a:p>
          <a:p>
            <a:pPr>
              <a:spcAft>
                <a:spcPts val="1000"/>
              </a:spcAft>
              <a:defRPr sz="1800">
                <a:solidFill>
                  <a:srgbClr val="22222A"/>
                </a:solidFill>
              </a:defRPr>
            </a:pPr>
            <a:r>
              <a:t>•  Exploding gradients: products of many large Jacobians grow without bound across depth</a:t>
            </a:r>
          </a:p>
          <a:p>
            <a:pPr>
              <a:spcAft>
                <a:spcPts val="1000"/>
              </a:spcAft>
              <a:defRPr sz="1800">
                <a:solidFill>
                  <a:srgbClr val="22222A"/>
                </a:solidFill>
              </a:defRPr>
            </a:pPr>
            <a:r>
              <a:t>•  Both make deep networks difficult or impossible to train without countermeasures</a:t>
            </a:r>
          </a:p>
          <a:p>
            <a:pPr>
              <a:spcAft>
                <a:spcPts val="1000"/>
              </a:spcAft>
              <a:defRPr sz="1800">
                <a:solidFill>
                  <a:srgbClr val="22222A"/>
                </a:solidFill>
              </a:defRPr>
            </a:pPr>
            <a:r>
              <a:t>•  Initialization, activation choice, normalization, and residual connections are all responses to this</a:t>
            </a:r>
          </a:p>
        </p:txBody>
      </p:sp>
      <p:sp>
        <p:nvSpPr>
          <p:cNvPr id="4" name="Rounded Rectangle 3"/>
          <p:cNvSpPr/>
          <p:nvPr/>
        </p:nvSpPr>
        <p:spPr>
          <a:xfrm>
            <a:off x="640080" y="3648456"/>
            <a:ext cx="10911535" cy="1554480"/>
          </a:xfrm>
          <a:prstGeom prst="roundRect">
            <a:avLst/>
          </a:prstGeom>
          <a:solidFill>
            <a:srgbClr val="FDF2E2"/>
          </a:solidFill>
          <a:ln w="15875">
            <a:solidFill>
              <a:srgbClr val="B8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450" b="1">
                <a:solidFill>
                  <a:srgbClr val="B86A00"/>
                </a:solidFill>
              </a:rPr>
              <a:t>✏️ Exercise: A 20-layer sigmoid network trains fine for the first few layers near the output but the earliest layers' weights barely change at all during training. Which gradient pathology is this, and why does it hit early layers hardest?</a:t>
            </a:r>
          </a:p>
        </p:txBody>
      </p:sp>
      <p:sp>
        <p:nvSpPr>
          <p:cNvPr id="5" name="TextBox 4"/>
          <p:cNvSpPr txBox="1"/>
          <p:nvPr/>
        </p:nvSpPr>
        <p:spPr>
          <a:xfrm>
            <a:off x="11002975" y="6400800"/>
            <a:ext cx="914400" cy="365760"/>
          </a:xfrm>
          <a:prstGeom prst="rect">
            <a:avLst/>
          </a:prstGeom>
          <a:noFill/>
        </p:spPr>
        <p:txBody>
          <a:bodyPr wrap="none">
            <a:spAutoFit/>
          </a:bodyPr>
          <a:lstStyle/>
          <a:p>
            <a:pPr algn="r"/>
            <a:r>
              <a:rPr sz="1100">
                <a:solidFill>
                  <a:srgbClr val="888888"/>
                </a:solidFill>
              </a:rPr>
              <a:t>6 /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2600" b="1">
                <a:solidFill>
                  <a:srgbClr val="FFFFFF"/>
                </a:solidFill>
              </a:defRPr>
            </a:pPr>
            <a:r>
              <a:t>Concept: Xavier Initialization</a:t>
            </a:r>
          </a:p>
        </p:txBody>
      </p:sp>
      <p:sp>
        <p:nvSpPr>
          <p:cNvPr id="3" name="TextBox 2"/>
          <p:cNvSpPr txBox="1"/>
          <p:nvPr/>
        </p:nvSpPr>
        <p:spPr>
          <a:xfrm>
            <a:off x="640080" y="1280160"/>
            <a:ext cx="10911535" cy="2743200"/>
          </a:xfrm>
          <a:prstGeom prst="rect">
            <a:avLst/>
          </a:prstGeom>
          <a:noFill/>
        </p:spPr>
        <p:txBody>
          <a:bodyPr wrap="square">
            <a:spAutoFit/>
          </a:bodyPr>
          <a:lstStyle/>
          <a:p>
            <a:pPr>
              <a:spcAft>
                <a:spcPts val="1000"/>
              </a:spcAft>
              <a:defRPr sz="1800">
                <a:solidFill>
                  <a:srgbClr val="22222A"/>
                </a:solidFill>
              </a:defRPr>
            </a:pPr>
            <a:r>
              <a:t>•  Goal: keep the variance of activations roughly CONSTANT as signal passes through each layer</a:t>
            </a:r>
          </a:p>
          <a:p>
            <a:pPr>
              <a:spcAft>
                <a:spcPts val="1000"/>
              </a:spcAft>
              <a:defRPr sz="1800">
                <a:solidFill>
                  <a:srgbClr val="22222A"/>
                </a:solidFill>
              </a:defRPr>
            </a:pPr>
            <a:r>
              <a:t>•  Derived from Var(z) = n_in · Var(x) · Var(w) — solving for the weight variance that keeps Var(z)≈Var(x)</a:t>
            </a:r>
          </a:p>
          <a:p>
            <a:pPr>
              <a:spcAft>
                <a:spcPts val="1000"/>
              </a:spcAft>
              <a:defRPr sz="1800">
                <a:solidFill>
                  <a:srgbClr val="22222A"/>
                </a:solidFill>
              </a:defRPr>
            </a:pPr>
            <a:r>
              <a:t>•  Result: Var(W) = 2 / (n_in + n_out) — designed for symmetric activations like tanh</a:t>
            </a:r>
          </a:p>
        </p:txBody>
      </p:sp>
      <p:sp>
        <p:nvSpPr>
          <p:cNvPr id="4" name="Rounded Rectangle 3"/>
          <p:cNvSpPr/>
          <p:nvPr/>
        </p:nvSpPr>
        <p:spPr>
          <a:xfrm>
            <a:off x="640080" y="3136392"/>
            <a:ext cx="10911535" cy="1554480"/>
          </a:xfrm>
          <a:prstGeom prst="roundRect">
            <a:avLst/>
          </a:prstGeom>
          <a:solidFill>
            <a:srgbClr val="FDF2E2"/>
          </a:solidFill>
          <a:ln w="15875">
            <a:solidFill>
              <a:srgbClr val="B8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450" b="1">
                <a:solidFill>
                  <a:srgbClr val="B86A00"/>
                </a:solidFill>
              </a:rPr>
              <a:t>✏️ Exercise: Why does Xavier initialization's variance formula include BOTH n_in and n_out, rather than just n_in?</a:t>
            </a:r>
          </a:p>
        </p:txBody>
      </p:sp>
      <p:sp>
        <p:nvSpPr>
          <p:cNvPr id="5" name="TextBox 4"/>
          <p:cNvSpPr txBox="1"/>
          <p:nvPr/>
        </p:nvSpPr>
        <p:spPr>
          <a:xfrm>
            <a:off x="11002975" y="6400800"/>
            <a:ext cx="914400" cy="365760"/>
          </a:xfrm>
          <a:prstGeom prst="rect">
            <a:avLst/>
          </a:prstGeom>
          <a:noFill/>
        </p:spPr>
        <p:txBody>
          <a:bodyPr wrap="none">
            <a:spAutoFit/>
          </a:bodyPr>
          <a:lstStyle/>
          <a:p>
            <a:pPr algn="r"/>
            <a:r>
              <a:rPr sz="1100">
                <a:solidFill>
                  <a:srgbClr val="888888"/>
                </a:solidFill>
              </a:rPr>
              <a:t>7 / 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2600" b="1">
                <a:solidFill>
                  <a:srgbClr val="FFFFFF"/>
                </a:solidFill>
              </a:defRPr>
            </a:pPr>
            <a:r>
              <a:t>Concept: He Initialization</a:t>
            </a:r>
          </a:p>
        </p:txBody>
      </p:sp>
      <p:sp>
        <p:nvSpPr>
          <p:cNvPr id="3" name="TextBox 2"/>
          <p:cNvSpPr txBox="1"/>
          <p:nvPr/>
        </p:nvSpPr>
        <p:spPr>
          <a:xfrm>
            <a:off x="640080" y="1280160"/>
            <a:ext cx="10911535" cy="2743200"/>
          </a:xfrm>
          <a:prstGeom prst="rect">
            <a:avLst/>
          </a:prstGeom>
          <a:noFill/>
        </p:spPr>
        <p:txBody>
          <a:bodyPr wrap="square">
            <a:spAutoFit/>
          </a:bodyPr>
          <a:lstStyle/>
          <a:p>
            <a:pPr>
              <a:spcAft>
                <a:spcPts val="1000"/>
              </a:spcAft>
              <a:defRPr sz="1800">
                <a:solidFill>
                  <a:srgbClr val="22222A"/>
                </a:solidFill>
              </a:defRPr>
            </a:pPr>
            <a:r>
              <a:t>•  Designed specifically for ReLU, which zeros out roughly half its inputs</a:t>
            </a:r>
          </a:p>
          <a:p>
            <a:pPr>
              <a:spcAft>
                <a:spcPts val="1000"/>
              </a:spcAft>
              <a:defRPr sz="1800">
                <a:solidFill>
                  <a:srgbClr val="22222A"/>
                </a:solidFill>
              </a:defRPr>
            </a:pPr>
            <a:r>
              <a:t>•  Because ReLU discards half the signal, the remaining variance must be compensated for</a:t>
            </a:r>
          </a:p>
          <a:p>
            <a:pPr>
              <a:spcAft>
                <a:spcPts val="1000"/>
              </a:spcAft>
              <a:defRPr sz="1800">
                <a:solidFill>
                  <a:srgbClr val="22222A"/>
                </a:solidFill>
              </a:defRPr>
            </a:pPr>
            <a:r>
              <a:t>•  Result: Var(W) = 2 / n_in — exactly double Xavier's forward-only term</a:t>
            </a:r>
          </a:p>
        </p:txBody>
      </p:sp>
      <p:sp>
        <p:nvSpPr>
          <p:cNvPr id="4" name="Rounded Rectangle 3"/>
          <p:cNvSpPr/>
          <p:nvPr/>
        </p:nvSpPr>
        <p:spPr>
          <a:xfrm>
            <a:off x="640080" y="3136392"/>
            <a:ext cx="10911535" cy="1554480"/>
          </a:xfrm>
          <a:prstGeom prst="roundRect">
            <a:avLst/>
          </a:prstGeom>
          <a:solidFill>
            <a:srgbClr val="FDF2E2"/>
          </a:solidFill>
          <a:ln w="15875">
            <a:solidFill>
              <a:srgbClr val="B8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450" b="1">
                <a:solidFill>
                  <a:srgbClr val="B86A00"/>
                </a:solidFill>
              </a:rPr>
              <a:t>✏️ Exercise: Explain, in one sentence, why He initialization uses exactly 2/n_in rather than Xavier's more complex 2/(n_in+n_out) formula.</a:t>
            </a:r>
          </a:p>
        </p:txBody>
      </p:sp>
      <p:sp>
        <p:nvSpPr>
          <p:cNvPr id="5" name="TextBox 4"/>
          <p:cNvSpPr txBox="1"/>
          <p:nvPr/>
        </p:nvSpPr>
        <p:spPr>
          <a:xfrm>
            <a:off x="11002975" y="6400800"/>
            <a:ext cx="914400" cy="365760"/>
          </a:xfrm>
          <a:prstGeom prst="rect">
            <a:avLst/>
          </a:prstGeom>
          <a:noFill/>
        </p:spPr>
        <p:txBody>
          <a:bodyPr wrap="none">
            <a:spAutoFit/>
          </a:bodyPr>
          <a:lstStyle/>
          <a:p>
            <a:pPr algn="r"/>
            <a:r>
              <a:rPr sz="1100">
                <a:solidFill>
                  <a:srgbClr val="888888"/>
                </a:solidFill>
              </a:rPr>
              <a:t>8 / 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2600" b="1">
                <a:solidFill>
                  <a:srgbClr val="FFFFFF"/>
                </a:solidFill>
              </a:defRPr>
            </a:pPr>
            <a:r>
              <a:t>Concept: The Module Contract</a:t>
            </a:r>
          </a:p>
        </p:txBody>
      </p:sp>
      <p:sp>
        <p:nvSpPr>
          <p:cNvPr id="3" name="TextBox 2"/>
          <p:cNvSpPr txBox="1"/>
          <p:nvPr/>
        </p:nvSpPr>
        <p:spPr>
          <a:xfrm>
            <a:off x="640080" y="1280160"/>
            <a:ext cx="10911535" cy="2743200"/>
          </a:xfrm>
          <a:prstGeom prst="rect">
            <a:avLst/>
          </a:prstGeom>
          <a:noFill/>
        </p:spPr>
        <p:txBody>
          <a:bodyPr wrap="square">
            <a:spAutoFit/>
          </a:bodyPr>
          <a:lstStyle/>
          <a:p>
            <a:pPr>
              <a:spcAft>
                <a:spcPts val="1000"/>
              </a:spcAft>
              <a:defRPr sz="1800">
                <a:solidFill>
                  <a:srgbClr val="22222A"/>
                </a:solidFill>
              </a:defRPr>
            </a:pPr>
            <a:r>
              <a:t>•  Every layer implements the same three methods: forward(), backward(), parameters()</a:t>
            </a:r>
          </a:p>
          <a:p>
            <a:pPr>
              <a:spcAft>
                <a:spcPts val="1000"/>
              </a:spcAft>
              <a:defRPr sz="1800">
                <a:solidFill>
                  <a:srgbClr val="22222A"/>
                </a:solidFill>
              </a:defRPr>
            </a:pPr>
            <a:r>
              <a:t>•  forward() computes outputs AND caches whatever backward() will need</a:t>
            </a:r>
          </a:p>
          <a:p>
            <a:pPr>
              <a:spcAft>
                <a:spcPts val="1000"/>
              </a:spcAft>
              <a:defRPr sz="1800">
                <a:solidFill>
                  <a:srgbClr val="22222A"/>
                </a:solidFill>
              </a:defRPr>
            </a:pPr>
            <a:r>
              <a:t>•  Sequential.backward() walks layers in REVERSE order — the chain rule runs output-to-input</a:t>
            </a:r>
          </a:p>
          <a:p>
            <a:pPr>
              <a:spcAft>
                <a:spcPts val="1000"/>
              </a:spcAft>
              <a:defRPr sz="1800">
                <a:solidFill>
                  <a:srgbClr val="22222A"/>
                </a:solidFill>
              </a:defRPr>
            </a:pPr>
            <a:r>
              <a:t>•  This uniform contract is what lets layers compose into arbitrarily deep networks</a:t>
            </a:r>
          </a:p>
        </p:txBody>
      </p:sp>
      <p:sp>
        <p:nvSpPr>
          <p:cNvPr id="4" name="Rounded Rectangle 3"/>
          <p:cNvSpPr/>
          <p:nvPr/>
        </p:nvSpPr>
        <p:spPr>
          <a:xfrm>
            <a:off x="640080" y="3648456"/>
            <a:ext cx="10911535" cy="1554480"/>
          </a:xfrm>
          <a:prstGeom prst="roundRect">
            <a:avLst/>
          </a:prstGeom>
          <a:solidFill>
            <a:srgbClr val="FDF2E2"/>
          </a:solidFill>
          <a:ln w="15875">
            <a:solidFill>
              <a:srgbClr val="B8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450" b="1">
                <a:solidFill>
                  <a:srgbClr val="B86A00"/>
                </a:solidFill>
              </a:rPr>
              <a:t>✏️ Exercise: A Sequential model has layers [Linear, ReLU, Linear]. In what order does forward() call them, and in what order does backward() call them?</a:t>
            </a:r>
          </a:p>
        </p:txBody>
      </p:sp>
      <p:sp>
        <p:nvSpPr>
          <p:cNvPr id="5" name="TextBox 4"/>
          <p:cNvSpPr txBox="1"/>
          <p:nvPr/>
        </p:nvSpPr>
        <p:spPr>
          <a:xfrm>
            <a:off x="11002975" y="6400800"/>
            <a:ext cx="914400" cy="365760"/>
          </a:xfrm>
          <a:prstGeom prst="rect">
            <a:avLst/>
          </a:prstGeom>
          <a:noFill/>
        </p:spPr>
        <p:txBody>
          <a:bodyPr wrap="none">
            <a:spAutoFit/>
          </a:bodyPr>
          <a:lstStyle/>
          <a:p>
            <a:pPr algn="r"/>
            <a:r>
              <a:rPr sz="1100">
                <a:solidFill>
                  <a:srgbClr val="888888"/>
                </a:solidFill>
              </a:rPr>
              <a:t>9 / 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2600" b="1">
                <a:solidFill>
                  <a:srgbClr val="FFFFFF"/>
                </a:solidFill>
              </a:defRPr>
            </a:pPr>
            <a:r>
              <a:t>Concept: Numerical Gradient Checking</a:t>
            </a:r>
          </a:p>
        </p:txBody>
      </p:sp>
      <p:sp>
        <p:nvSpPr>
          <p:cNvPr id="3" name="TextBox 2"/>
          <p:cNvSpPr txBox="1"/>
          <p:nvPr/>
        </p:nvSpPr>
        <p:spPr>
          <a:xfrm>
            <a:off x="640080" y="1280160"/>
            <a:ext cx="10911535" cy="2743200"/>
          </a:xfrm>
          <a:prstGeom prst="rect">
            <a:avLst/>
          </a:prstGeom>
          <a:noFill/>
        </p:spPr>
        <p:txBody>
          <a:bodyPr wrap="square">
            <a:spAutoFit/>
          </a:bodyPr>
          <a:lstStyle/>
          <a:p>
            <a:pPr>
              <a:spcAft>
                <a:spcPts val="1000"/>
              </a:spcAft>
              <a:defRPr sz="1800">
                <a:solidFill>
                  <a:srgbClr val="22222A"/>
                </a:solidFill>
              </a:defRPr>
            </a:pPr>
            <a:r>
              <a:t>•  Central difference: f'(θ) ≈ [f(θ+h) − f(θ−h)] / (2h) — more accurate than the one-sided version</a:t>
            </a:r>
          </a:p>
          <a:p>
            <a:pPr>
              <a:spcAft>
                <a:spcPts val="1000"/>
              </a:spcAft>
              <a:defRPr sz="1800">
                <a:solidFill>
                  <a:srgbClr val="22222A"/>
                </a:solidFill>
              </a:defRPr>
            </a:pPr>
            <a:r>
              <a:t>•  Compare this numerical estimate against your analytical (backprop) gradient</a:t>
            </a:r>
          </a:p>
          <a:p>
            <a:pPr>
              <a:spcAft>
                <a:spcPts val="1000"/>
              </a:spcAft>
              <a:defRPr sz="1800">
                <a:solidFill>
                  <a:srgbClr val="22222A"/>
                </a:solidFill>
              </a:defRPr>
            </a:pPr>
            <a:r>
              <a:t>•  Use RELATIVE error, not absolute — absolute error is misleading when gradients are tiny</a:t>
            </a:r>
          </a:p>
          <a:p>
            <a:pPr>
              <a:spcAft>
                <a:spcPts val="1000"/>
              </a:spcAft>
              <a:defRPr sz="1800">
                <a:solidFill>
                  <a:srgbClr val="22222A"/>
                </a:solidFill>
              </a:defRPr>
            </a:pPr>
            <a:r>
              <a:t>•  A correct float64 implementation should show relative error below about 1e-7</a:t>
            </a:r>
          </a:p>
        </p:txBody>
      </p:sp>
      <p:sp>
        <p:nvSpPr>
          <p:cNvPr id="4" name="Rounded Rectangle 3"/>
          <p:cNvSpPr/>
          <p:nvPr/>
        </p:nvSpPr>
        <p:spPr>
          <a:xfrm>
            <a:off x="640080" y="3648456"/>
            <a:ext cx="10911535" cy="1554480"/>
          </a:xfrm>
          <a:prstGeom prst="roundRect">
            <a:avLst/>
          </a:prstGeom>
          <a:solidFill>
            <a:srgbClr val="FDF2E2"/>
          </a:solidFill>
          <a:ln w="15875">
            <a:solidFill>
              <a:srgbClr val="B8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450" b="1">
                <a:solidFill>
                  <a:srgbClr val="B86A00"/>
                </a:solidFill>
              </a:rPr>
              <a:t>✏️ Exercise: Your gradient check reports analytical=0.0031, numerical=0.0029. Is a relative-error tolerance of 1e-7 likely to be satisfied? What does this suggest about your backward pass?</a:t>
            </a:r>
          </a:p>
        </p:txBody>
      </p:sp>
      <p:sp>
        <p:nvSpPr>
          <p:cNvPr id="5" name="TextBox 4"/>
          <p:cNvSpPr txBox="1"/>
          <p:nvPr/>
        </p:nvSpPr>
        <p:spPr>
          <a:xfrm>
            <a:off x="11002975" y="6400800"/>
            <a:ext cx="914400" cy="365760"/>
          </a:xfrm>
          <a:prstGeom prst="rect">
            <a:avLst/>
          </a:prstGeom>
          <a:noFill/>
        </p:spPr>
        <p:txBody>
          <a:bodyPr wrap="none">
            <a:spAutoFit/>
          </a:bodyPr>
          <a:lstStyle/>
          <a:p>
            <a:pPr algn="r"/>
            <a:r>
              <a:rPr sz="1100">
                <a:solidFill>
                  <a:srgbClr val="888888"/>
                </a:solidFill>
              </a:rPr>
              <a:t>10 / 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2600" b="1">
                <a:solidFill>
                  <a:srgbClr val="FFFFFF"/>
                </a:solidFill>
              </a:defRPr>
            </a:pPr>
            <a:r>
              <a:t>Concept: Common Bug — Missing Batch Averaging</a:t>
            </a:r>
          </a:p>
        </p:txBody>
      </p:sp>
      <p:sp>
        <p:nvSpPr>
          <p:cNvPr id="3" name="TextBox 2"/>
          <p:cNvSpPr txBox="1"/>
          <p:nvPr/>
        </p:nvSpPr>
        <p:spPr>
          <a:xfrm>
            <a:off x="640080" y="1280160"/>
            <a:ext cx="10911535" cy="2743200"/>
          </a:xfrm>
          <a:prstGeom prst="rect">
            <a:avLst/>
          </a:prstGeom>
          <a:noFill/>
        </p:spPr>
        <p:txBody>
          <a:bodyPr wrap="square">
            <a:spAutoFit/>
          </a:bodyPr>
          <a:lstStyle/>
          <a:p>
            <a:pPr>
              <a:spcAft>
                <a:spcPts val="1000"/>
              </a:spcAft>
              <a:defRPr sz="1800">
                <a:solidFill>
                  <a:srgbClr val="22222A"/>
                </a:solidFill>
              </a:defRPr>
            </a:pPr>
            <a:r>
              <a:t>•  If the FORWARD loss averages over the batch (divides by B), the BACKWARD gradient must too</a:t>
            </a:r>
          </a:p>
          <a:p>
            <a:pPr>
              <a:spcAft>
                <a:spcPts val="1000"/>
              </a:spcAft>
              <a:defRPr sz="1800">
                <a:solidFill>
                  <a:srgbClr val="22222A"/>
                </a:solidFill>
              </a:defRPr>
            </a:pPr>
            <a:r>
              <a:t>•  Forgetting grad /= batch_size makes the effective learning rate scale with batch size</a:t>
            </a:r>
          </a:p>
          <a:p>
            <a:pPr>
              <a:spcAft>
                <a:spcPts val="1000"/>
              </a:spcAft>
              <a:defRPr sz="1800">
                <a:solidFill>
                  <a:srgbClr val="22222A"/>
                </a:solidFill>
              </a:defRPr>
            </a:pPr>
            <a:r>
              <a:t>•  This is a silent bug — training still runs, just with a batch-size-dependent effective step size</a:t>
            </a:r>
          </a:p>
        </p:txBody>
      </p:sp>
      <p:sp>
        <p:nvSpPr>
          <p:cNvPr id="4" name="Rounded Rectangle 3"/>
          <p:cNvSpPr/>
          <p:nvPr/>
        </p:nvSpPr>
        <p:spPr>
          <a:xfrm>
            <a:off x="640080" y="3136392"/>
            <a:ext cx="10911535" cy="1554480"/>
          </a:xfrm>
          <a:prstGeom prst="roundRect">
            <a:avLst/>
          </a:prstGeom>
          <a:solidFill>
            <a:srgbClr val="FDF2E2"/>
          </a:solidFill>
          <a:ln w="15875">
            <a:solidFill>
              <a:srgbClr val="B8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450" b="1">
                <a:solidFill>
                  <a:srgbClr val="B86A00"/>
                </a:solidFill>
              </a:rPr>
              <a:t>✏️ Exercise: You forget to divide the cross-entropy gradient by batch_size. If you then double your batch size, what happens to the effective step size of each parameter update, all else equal?</a:t>
            </a:r>
          </a:p>
        </p:txBody>
      </p:sp>
      <p:sp>
        <p:nvSpPr>
          <p:cNvPr id="5" name="TextBox 4"/>
          <p:cNvSpPr txBox="1"/>
          <p:nvPr/>
        </p:nvSpPr>
        <p:spPr>
          <a:xfrm>
            <a:off x="11002975" y="6400800"/>
            <a:ext cx="914400" cy="365760"/>
          </a:xfrm>
          <a:prstGeom prst="rect">
            <a:avLst/>
          </a:prstGeom>
          <a:noFill/>
        </p:spPr>
        <p:txBody>
          <a:bodyPr wrap="none">
            <a:spAutoFit/>
          </a:bodyPr>
          <a:lstStyle/>
          <a:p>
            <a:pPr algn="r"/>
            <a:r>
              <a:rPr sz="1100">
                <a:solidFill>
                  <a:srgbClr val="888888"/>
                </a:solidFill>
              </a:rPr>
              <a:t>11 /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2600" b="1">
                <a:solidFill>
                  <a:srgbClr val="FFFFFF"/>
                </a:solidFill>
              </a:defRPr>
            </a:pPr>
            <a:r>
              <a:t>Concept: Common Bug — Mutating Cached Inputs</a:t>
            </a:r>
          </a:p>
        </p:txBody>
      </p:sp>
      <p:sp>
        <p:nvSpPr>
          <p:cNvPr id="3" name="TextBox 2"/>
          <p:cNvSpPr txBox="1"/>
          <p:nvPr/>
        </p:nvSpPr>
        <p:spPr>
          <a:xfrm>
            <a:off x="640080" y="1280160"/>
            <a:ext cx="10911535" cy="2743200"/>
          </a:xfrm>
          <a:prstGeom prst="rect">
            <a:avLst/>
          </a:prstGeom>
          <a:noFill/>
        </p:spPr>
        <p:txBody>
          <a:bodyPr wrap="square">
            <a:spAutoFit/>
          </a:bodyPr>
          <a:lstStyle/>
          <a:p>
            <a:pPr>
              <a:spcAft>
                <a:spcPts val="1000"/>
              </a:spcAft>
              <a:defRPr sz="1800">
                <a:solidFill>
                  <a:srgbClr val="22222A"/>
                </a:solidFill>
              </a:defRPr>
            </a:pPr>
            <a:r>
              <a:t>•  Backward methods depend on values CACHED during the forward pass</a:t>
            </a:r>
          </a:p>
          <a:p>
            <a:pPr>
              <a:spcAft>
                <a:spcPts val="1000"/>
              </a:spcAft>
              <a:defRPr sz="1800">
                <a:solidFill>
                  <a:srgbClr val="22222A"/>
                </a:solidFill>
              </a:defRPr>
            </a:pPr>
            <a:r>
              <a:t>•  If a cached array is mutated in place before backward() runs, the gradient computation reads corrupted data</a:t>
            </a:r>
          </a:p>
          <a:p>
            <a:pPr>
              <a:spcAft>
                <a:spcPts val="1000"/>
              </a:spcAft>
              <a:defRPr sz="1800">
                <a:solidFill>
                  <a:srgbClr val="22222A"/>
                </a:solidFill>
              </a:defRPr>
            </a:pPr>
            <a:r>
              <a:t>•  Treat every cached tensor as read-only until backward() has consumed it</a:t>
            </a:r>
          </a:p>
        </p:txBody>
      </p:sp>
      <p:sp>
        <p:nvSpPr>
          <p:cNvPr id="4" name="Rounded Rectangle 3"/>
          <p:cNvSpPr/>
          <p:nvPr/>
        </p:nvSpPr>
        <p:spPr>
          <a:xfrm>
            <a:off x="640080" y="3136392"/>
            <a:ext cx="10911535" cy="1554480"/>
          </a:xfrm>
          <a:prstGeom prst="roundRect">
            <a:avLst/>
          </a:prstGeom>
          <a:solidFill>
            <a:srgbClr val="FDF2E2"/>
          </a:solidFill>
          <a:ln w="15875">
            <a:solidFill>
              <a:srgbClr val="B8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450" b="1">
                <a:solidFill>
                  <a:srgbClr val="B86A00"/>
                </a:solidFill>
              </a:rPr>
              <a:t>✏️ Exercise: A custom training loop applies an in-place data augmentation to the input array AFTER the forward pass but BEFORE calling backward(). Why is this dangerous if the layer cached a reference to that same array?</a:t>
            </a:r>
          </a:p>
        </p:txBody>
      </p:sp>
      <p:sp>
        <p:nvSpPr>
          <p:cNvPr id="5" name="TextBox 4"/>
          <p:cNvSpPr txBox="1"/>
          <p:nvPr/>
        </p:nvSpPr>
        <p:spPr>
          <a:xfrm>
            <a:off x="11002975" y="6400800"/>
            <a:ext cx="914400" cy="365760"/>
          </a:xfrm>
          <a:prstGeom prst="rect">
            <a:avLst/>
          </a:prstGeom>
          <a:noFill/>
        </p:spPr>
        <p:txBody>
          <a:bodyPr wrap="none">
            <a:spAutoFit/>
          </a:bodyPr>
          <a:lstStyle/>
          <a:p>
            <a:pPr algn="r"/>
            <a:r>
              <a:rPr sz="1100">
                <a:solidFill>
                  <a:srgbClr val="888888"/>
                </a:solidFill>
              </a:rPr>
              <a:t>12 / 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2600" b="1">
                <a:solidFill>
                  <a:srgbClr val="FFFFFF"/>
                </a:solidFill>
              </a:defRPr>
            </a:pPr>
            <a:r>
              <a:t>Concept: Diagnosing a Training Run</a:t>
            </a:r>
          </a:p>
        </p:txBody>
      </p:sp>
      <p:sp>
        <p:nvSpPr>
          <p:cNvPr id="3" name="TextBox 2"/>
          <p:cNvSpPr txBox="1"/>
          <p:nvPr/>
        </p:nvSpPr>
        <p:spPr>
          <a:xfrm>
            <a:off x="640080" y="1280160"/>
            <a:ext cx="10911535" cy="2743200"/>
          </a:xfrm>
          <a:prstGeom prst="rect">
            <a:avLst/>
          </a:prstGeom>
          <a:noFill/>
        </p:spPr>
        <p:txBody>
          <a:bodyPr wrap="square">
            <a:spAutoFit/>
          </a:bodyPr>
          <a:lstStyle/>
          <a:p>
            <a:pPr>
              <a:spcAft>
                <a:spcPts val="1000"/>
              </a:spcAft>
              <a:defRPr sz="1800">
                <a:solidFill>
                  <a:srgbClr val="22222A"/>
                </a:solidFill>
              </a:defRPr>
            </a:pPr>
            <a:r>
              <a:t>•  Activation histograms: watch for ReLUs stuck at all-zero, or sigmoids saturated at 0/1</a:t>
            </a:r>
          </a:p>
          <a:p>
            <a:pPr>
              <a:spcAft>
                <a:spcPts val="1000"/>
              </a:spcAft>
              <a:defRPr sz="1800">
                <a:solidFill>
                  <a:srgbClr val="22222A"/>
                </a:solidFill>
              </a:defRPr>
            </a:pPr>
            <a:r>
              <a:t>•  Gradient norms per layer: watch for early layers with vastly smaller norms than later layers</a:t>
            </a:r>
          </a:p>
          <a:p>
            <a:pPr>
              <a:spcAft>
                <a:spcPts val="1000"/>
              </a:spcAft>
              <a:defRPr sz="1800">
                <a:solidFill>
                  <a:srgbClr val="22222A"/>
                </a:solidFill>
              </a:defRPr>
            </a:pPr>
            <a:r>
              <a:t>•  Loss curves: flat-and-high (underfitting), diverging train/val gap (overfitting), NaN (instability)</a:t>
            </a:r>
          </a:p>
          <a:p>
            <a:pPr>
              <a:spcAft>
                <a:spcPts val="1000"/>
              </a:spcAft>
              <a:defRPr sz="1800">
                <a:solidFill>
                  <a:srgbClr val="22222A"/>
                </a:solidFill>
              </a:defRPr>
            </a:pPr>
            <a:r>
              <a:t>•  None of these prove correctness — but they narrow down WHERE to look for a bug</a:t>
            </a:r>
          </a:p>
        </p:txBody>
      </p:sp>
      <p:sp>
        <p:nvSpPr>
          <p:cNvPr id="4" name="Rounded Rectangle 3"/>
          <p:cNvSpPr/>
          <p:nvPr/>
        </p:nvSpPr>
        <p:spPr>
          <a:xfrm>
            <a:off x="640080" y="3648456"/>
            <a:ext cx="10911535" cy="1554480"/>
          </a:xfrm>
          <a:prstGeom prst="roundRect">
            <a:avLst/>
          </a:prstGeom>
          <a:solidFill>
            <a:srgbClr val="FDF2E2"/>
          </a:solidFill>
          <a:ln w="15875">
            <a:solidFill>
              <a:srgbClr val="B8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450" b="1">
                <a:solidFill>
                  <a:srgbClr val="B86A00"/>
                </a:solidFill>
              </a:rPr>
              <a:t>✏️ Exercise: A network's loss suddenly becomes NaN partway through training. Name two of the most likely causes to check first.</a:t>
            </a:r>
          </a:p>
        </p:txBody>
      </p:sp>
      <p:sp>
        <p:nvSpPr>
          <p:cNvPr id="5" name="TextBox 4"/>
          <p:cNvSpPr txBox="1"/>
          <p:nvPr/>
        </p:nvSpPr>
        <p:spPr>
          <a:xfrm>
            <a:off x="11002975" y="6400800"/>
            <a:ext cx="914400" cy="365760"/>
          </a:xfrm>
          <a:prstGeom prst="rect">
            <a:avLst/>
          </a:prstGeom>
          <a:noFill/>
        </p:spPr>
        <p:txBody>
          <a:bodyPr wrap="none">
            <a:spAutoFit/>
          </a:bodyPr>
          <a:lstStyle/>
          <a:p>
            <a:pPr algn="r"/>
            <a:r>
              <a:rPr sz="1100">
                <a:solidFill>
                  <a:srgbClr val="888888"/>
                </a:solidFill>
              </a:rPr>
              <a:t>13 /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2600" b="1">
                <a:solidFill>
                  <a:srgbClr val="FFFFFF"/>
                </a:solidFill>
              </a:defRPr>
            </a:pPr>
            <a:r>
              <a:t>Mastery Check: Are You Ready to Move On?</a:t>
            </a:r>
          </a:p>
        </p:txBody>
      </p:sp>
      <p:sp>
        <p:nvSpPr>
          <p:cNvPr id="3" name="TextBox 2"/>
          <p:cNvSpPr txBox="1"/>
          <p:nvPr/>
        </p:nvSpPr>
        <p:spPr>
          <a:xfrm>
            <a:off x="548640" y="1234440"/>
            <a:ext cx="11094415" cy="457200"/>
          </a:xfrm>
          <a:prstGeom prst="rect">
            <a:avLst/>
          </a:prstGeom>
          <a:noFill/>
        </p:spPr>
        <p:txBody>
          <a:bodyPr wrap="square">
            <a:spAutoFit/>
          </a:bodyPr>
          <a:lstStyle/>
          <a:p>
            <a:r>
              <a:rPr sz="1500" i="1">
                <a:solidFill>
                  <a:srgbClr val="0D9488"/>
                </a:solidFill>
              </a:rPr>
              <a:t>If you can answer every question below confidently, you have mastered Chapter 10.</a:t>
            </a:r>
          </a:p>
        </p:txBody>
      </p:sp>
      <p:sp>
        <p:nvSpPr>
          <p:cNvPr id="4" name="Rounded Rectangle 3"/>
          <p:cNvSpPr/>
          <p:nvPr/>
        </p:nvSpPr>
        <p:spPr>
          <a:xfrm>
            <a:off x="548640" y="1691640"/>
            <a:ext cx="11094415" cy="4892040"/>
          </a:xfrm>
          <a:prstGeom prst="roundRect">
            <a:avLst/>
          </a:prstGeom>
          <a:solidFill>
            <a:srgbClr val="EAF6F4"/>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37160"/>
          <a:lstStyle/>
          <a:p>
            <a:pPr algn="l">
              <a:spcAft>
                <a:spcPts val="600"/>
              </a:spcAft>
              <a:defRPr sz="1250">
                <a:solidFill>
                  <a:srgbClr val="1B264F"/>
                </a:solidFill>
              </a:defRPr>
            </a:pPr>
            <a:r>
              <a:t>1.  Explain why backpropagation is the chain rule applied systematically, not a separate algorithm.</a:t>
            </a:r>
          </a:p>
          <a:p>
            <a:pPr algn="l">
              <a:spcAft>
                <a:spcPts val="600"/>
              </a:spcAft>
              <a:defRPr sz="1250">
                <a:solidFill>
                  <a:srgbClr val="1B264F"/>
                </a:solidFill>
              </a:defRPr>
            </a:pPr>
            <a:r>
              <a:t>2.  Derive dW, db, and dX for a linear layer Z = XW + b and verify their shapes match W, b, and X.</a:t>
            </a:r>
          </a:p>
          <a:p>
            <a:pPr algn="l">
              <a:spcAft>
                <a:spcPts val="600"/>
              </a:spcAft>
              <a:defRPr sz="1250">
                <a:solidFill>
                  <a:srgbClr val="1B264F"/>
                </a:solidFill>
              </a:defRPr>
            </a:pPr>
            <a:r>
              <a:t>3.  Derive the backward rule for ReLU and for sigmoid, and explain what each one caches from its forward pass.</a:t>
            </a:r>
          </a:p>
          <a:p>
            <a:pPr algn="l">
              <a:spcAft>
                <a:spcPts val="600"/>
              </a:spcAft>
              <a:defRPr sz="1250">
                <a:solidFill>
                  <a:srgbClr val="1B264F"/>
                </a:solidFill>
              </a:defRPr>
            </a:pPr>
            <a:r>
              <a:t>4.  Derive why the combined softmax + cross-entropy gradient simplifies to (P - Y) / B.</a:t>
            </a:r>
          </a:p>
          <a:p>
            <a:pPr algn="l">
              <a:spcAft>
                <a:spcPts val="600"/>
              </a:spcAft>
              <a:defRPr sz="1250">
                <a:solidFill>
                  <a:srgbClr val="1B264F"/>
                </a:solidFill>
              </a:defRPr>
            </a:pPr>
            <a:r>
              <a:t>5.  Explain vanishing and exploding gradients and why they hit early layers of a deep network hardest.</a:t>
            </a:r>
          </a:p>
          <a:p>
            <a:pPr algn="l">
              <a:spcAft>
                <a:spcPts val="600"/>
              </a:spcAft>
              <a:defRPr sz="1250">
                <a:solidFill>
                  <a:srgbClr val="1B264F"/>
                </a:solidFill>
              </a:defRPr>
            </a:pPr>
            <a:r>
              <a:t>6.  Derive Xavier initialization's variance formula and explain why it involves both n_in and n_out.</a:t>
            </a:r>
          </a:p>
          <a:p>
            <a:pPr algn="l">
              <a:spcAft>
                <a:spcPts val="600"/>
              </a:spcAft>
              <a:defRPr sz="1250">
                <a:solidFill>
                  <a:srgbClr val="1B264F"/>
                </a:solidFill>
              </a:defRPr>
            </a:pPr>
            <a:r>
              <a:t>7.  Derive He initialization's variance formula and explain why it differs from Xavier by a factor of 2.</a:t>
            </a:r>
          </a:p>
          <a:p>
            <a:pPr algn="l">
              <a:spcAft>
                <a:spcPts val="600"/>
              </a:spcAft>
              <a:defRPr sz="1250">
                <a:solidFill>
                  <a:srgbClr val="1B264F"/>
                </a:solidFill>
              </a:defRPr>
            </a:pPr>
            <a:r>
              <a:t>8.  Explain the Module contract (forward/backward/parameters) and why Sequential's backward runs in reverse order.</a:t>
            </a:r>
          </a:p>
          <a:p>
            <a:pPr algn="l">
              <a:spcAft>
                <a:spcPts val="600"/>
              </a:spcAft>
              <a:defRPr sz="1250">
                <a:solidFill>
                  <a:srgbClr val="1B264F"/>
                </a:solidFill>
              </a:defRPr>
            </a:pPr>
            <a:r>
              <a:t>9.  Explain why numerical gradient checking uses relative error and central differences, and state a typical tolerance.</a:t>
            </a:r>
          </a:p>
          <a:p>
            <a:pPr algn="l">
              <a:spcAft>
                <a:spcPts val="600"/>
              </a:spcAft>
              <a:defRPr sz="1250">
                <a:solidFill>
                  <a:srgbClr val="1B264F"/>
                </a:solidFill>
              </a:defRPr>
            </a:pPr>
            <a:r>
              <a:t>10.  Diagnose the training symptom caused by forgetting to divide the loss gradient by batch size.</a:t>
            </a:r>
          </a:p>
          <a:p>
            <a:pPr algn="l">
              <a:spcAft>
                <a:spcPts val="600"/>
              </a:spcAft>
              <a:defRPr sz="1250">
                <a:solidFill>
                  <a:srgbClr val="1B264F"/>
                </a:solidFill>
              </a:defRPr>
            </a:pPr>
            <a:r>
              <a:t>11.  Diagnose a bug caused by mutating a cached forward-pass value before backward() runs.</a:t>
            </a:r>
          </a:p>
          <a:p>
            <a:pPr algn="l">
              <a:spcAft>
                <a:spcPts val="600"/>
              </a:spcAft>
              <a:defRPr sz="1250">
                <a:solidFill>
                  <a:srgbClr val="1B264F"/>
                </a:solidFill>
              </a:defRPr>
            </a:pPr>
            <a:r>
              <a:t>12.  Implement a complete Linear + ReLU + Softmax-CrossEntropy MLP from scratch and verify it with a numerical gradient check.</a:t>
            </a:r>
          </a:p>
          <a:p>
            <a:pPr algn="l">
              <a:spcAft>
                <a:spcPts val="600"/>
              </a:spcAft>
              <a:defRPr sz="1250">
                <a:solidFill>
                  <a:srgbClr val="1B264F"/>
                </a:solidFill>
              </a:defRPr>
            </a:pPr>
            <a:r>
              <a:t>13.  Train the scratch MLP on the two-spiral dataset and confirm a linear model could not have solved it.</a:t>
            </a:r>
          </a:p>
        </p:txBody>
      </p:sp>
      <p:sp>
        <p:nvSpPr>
          <p:cNvPr id="5" name="TextBox 4"/>
          <p:cNvSpPr txBox="1"/>
          <p:nvPr/>
        </p:nvSpPr>
        <p:spPr>
          <a:xfrm>
            <a:off x="11002975" y="6400800"/>
            <a:ext cx="914400" cy="365760"/>
          </a:xfrm>
          <a:prstGeom prst="rect">
            <a:avLst/>
          </a:prstGeom>
          <a:noFill/>
        </p:spPr>
        <p:txBody>
          <a:bodyPr wrap="none">
            <a:spAutoFit/>
          </a:bodyPr>
          <a:lstStyle/>
          <a:p>
            <a:pPr algn="r"/>
            <a:r>
              <a:rPr sz="1100">
                <a:solidFill>
                  <a:srgbClr val="888888"/>
                </a:solidFill>
              </a:rPr>
              <a:t>14 /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